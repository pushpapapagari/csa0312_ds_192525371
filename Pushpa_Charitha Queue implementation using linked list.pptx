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2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telling the class that every visible arrow represents a real pointer or next link. The goal is to understand the structure well enough to trace the program without memorising it.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https://xlinux.nist.gov/dads/HTML/linkedList.html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a promise to the audience. Emphasise pointer tracing and the complete executable program, because those are the two parts beginners usually find difficult.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https://xlinux.nist.gov/dads/HTML/linkedList.html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which person should receive the ticket first. When students answer Person A, connect that everyday rule to the queue's formal FIFO rule.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to the green Front and orange Rear whenever you name an operation. Explain that linked queues do not have a fixed-capacity overflow; allocation failure is the practical overflow condition.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https://en.cppreference.com/w/c/memory/malloc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say linked lists have unlimited size. Say they avoid a fixed capacity and grow until memory allocation fails.</a:t>
            </a:r>
          </a:p>
          <a:p>
            <a:endParaRPr/>
          </a:p>
          <a:p>
            <a:r>
              <a:t>[Sources]</a:t>
            </a:r>
          </a:p>
          <a:p>
            <a:r>
              <a:t>- https://en.cppreference.com/w/c/memory/malloc</a:t>
            </a:r>
          </a:p>
          <a:p>
            <a:r>
              <a:t>- https://xlinux.nist.gov/dads/HTML/linkedList.html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node anatomy first, then move to the two-node example. Clarify that the arrow represents an address stored in the Next field, not physical closeness in RAM.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https://xlinux.nist.gov/dads/HTML/linkedList.html</a:t>
            </a:r>
          </a:p>
          <a:p>
            <a:r>
              <a:t>- https://en.cppreference.com/w/c/memory/malloc</a:t>
            </a:r>
          </a:p>
          <a:p>
            <a:r>
              <a:t>
Optional teaching code — node and queue container:
typedef struct Node {
    int data;
    struct Node *next;
} Node;
typedef struct myQueue {
    Node *front;
    Node *rear;
} Queue;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Trace the arrows from Front through the next links until Rear. The direct Rear pointer is the reason linked-list enqueue can be constant time.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https://xlinux.nist.gov/dads/HTML/linkedList.html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introduces the invariant used later in both operations. Pause on the single-node picture: two pointer variables can legitimately store the same node address.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https://xlinux.nist.gov/dads/HTML/linkedList.html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each row once: first insertion initialises both pointers; later insertions change one Next link and move Rear. There is no need to repeat node creation as a separate slide.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https://en.cppreference.com/w/c/memory/malloc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algorithm in three phases: create the node, connect it, and move Rear. Point out that the malloc check must happen before dereferencing newNode.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https://en.cppreference.com/w/c/memory/malloc</a:t>
            </a:r>
          </a:p>
          <a:p>
            <a:r>
              <a:t>
Optional teaching code — encapsulated enqueue:
void enqueue(Queue *q, int data) {
    Node *node = newNode(data);
    if (isEmpty(q)) {
        q-&gt;front = q-&gt;rear = node;
    } else {
        q-&gt;rear-&gt;next = node;
        q-&gt;rear = node;
    }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 Dequeue as one compact three-verb sequence: save the old Front, move Front, then free the saved node. The before-and-after diagrams are enough to trace the pointer change without twelve nearly identical slides.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https://en.cppreference.com/w/c/memory/free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Slow down at Step 5. Rear is not automatically updated when Front changes; it must be explicitly set to NULL when the last node leaves.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https://en.cppreference.com/w/c/memory/free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only on the final-node exception. Front becomes NULL after moving past node 30, so Rear must also be assigned NULL before the old node is released. This prevents a dangling Rear pointer.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https://en.cppreference.com/w/c/memory/free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Peek touches only the Front node. Display creates a separate traversal pointer so the actual Front pointer remains available after the loop.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https://xlinux.nist.gov/dads/HTML/linkedList.html</a:t>
            </a:r>
          </a:p>
          <a:p>
            <a:r>
              <a:t>
Optional teaching helpers:
int isEmpty(Queue *q) {
    return q-&gt;front == NULL;
}
int getfront(Queue *q) {
    if (isEmpty(q)) {
        printf("Queue is empty\n");
        return -1;
    }
    return q-&gt;front-&gt;data;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these as a debugging checklist. Most pointer bugs in a linked queue come from the first insertion or the final deletion, not from the middle of the queue.</a:t>
            </a:r>
          </a:p>
          <a:p>
            <a:endParaRPr/>
          </a:p>
          <a:p>
            <a:r>
              <a:t>[Sources]</a:t>
            </a:r>
          </a:p>
          <a:p>
            <a:r>
              <a:t>- https://en.cppreference.com/w/c/memory/malloc</a:t>
            </a:r>
          </a:p>
          <a:p>
            <a:r>
              <a:t>- https://en.cppreference.com/w/c/memory/free</a:t>
            </a:r>
          </a:p>
          <a:p>
            <a:r>
              <a:t>- https://xlinux.nist.gov/dads/HTML/queue.html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Tell students that no new idea appears in the code. Each function is a direct translation of an algorithm and the main loop only chooses which function to call.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https://en.cppreference.com/w/c/memory/malloc</a:t>
            </a:r>
          </a:p>
          <a:p>
            <a:r>
              <a:t>- https://en.cppreference.com/w/c/memory/free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declarations from top to bottom: stdio supplies input/output, stdlib supplies malloc and free, each Node stores data plus a next address, and Front and Rear both begin at NULL.</a:t>
            </a:r>
          </a:p>
          <a:p>
            <a:endParaRPr/>
          </a:p>
          <a:p>
            <a:r>
              <a:t>[Sources]</a:t>
            </a:r>
          </a:p>
          <a:p>
            <a:r>
              <a:t>- https://en.cppreference.com/w/c/memory/malloc</a:t>
            </a:r>
          </a:p>
          <a:p>
            <a:r>
              <a:t>- https://xlinux.nist.gov/dads/HTML/queue.html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enqueue in three short phases. First, malloc creates a node and the NULL check handles allocation failure. Second, data is stored and next is set to NULL. Third, an empty queue makes both pointers reference the node; otherwise the old Rear links to it and Rear moves forward. Front changes only during the first insertion.</a:t>
            </a:r>
          </a:p>
          <a:p>
            <a:endParaRPr/>
          </a:p>
          <a:p>
            <a:r>
              <a:t>[Sources]</a:t>
            </a:r>
          </a:p>
          <a:p>
            <a:r>
              <a:t>- https://en.cppreference.com/w/c/memory/malloc</a:t>
            </a:r>
          </a:p>
          <a:p>
            <a:r>
              <a:t>- https://xlinux.nist.gov/dads/HTML/queue.html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Identify the four essential lines: temp = front; front = front-&gt;next; rear = NULL when empty; and free(temp).</a:t>
            </a:r>
          </a:p>
          <a:p>
            <a:endParaRPr/>
          </a:p>
          <a:p>
            <a:r>
              <a:t>[Sources]</a:t>
            </a:r>
          </a:p>
          <a:p>
            <a:r>
              <a:t>- https://en.cppreference.com/w/c/memory/free</a:t>
            </a:r>
          </a:p>
          <a:p>
            <a:r>
              <a:t>- https://xlinux.nist.gov/dads/HTML/queue.html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Peek does not move any pointer. Display uses current as a disposable traversal pointer; Front still points to the oldest node when display returns.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https://xlinux.nist.gov/dads/HTML/linkedList.html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main loop prints the menu, reads a choice, and rejects non-numeric input. The switch statement continues on the next slide.</a:t>
            </a:r>
          </a:p>
          <a:p>
            <a:endParaRPr/>
          </a:p>
          <a:p>
            <a:r>
              <a:t>[Sources]</a:t>
            </a:r>
          </a:p>
          <a:p>
            <a:r>
              <a:t>- https://gcc.gnu.org/onlinedocs/gcc/Warning-Options.html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case calls exactly one queue operation. The do...while loop repeats until the user chooses 5.</a:t>
            </a:r>
          </a:p>
          <a:p>
            <a:endParaRPr/>
          </a:p>
          <a:p>
            <a:r>
              <a:t>[Sources]</a:t>
            </a:r>
          </a:p>
          <a:p>
            <a:r>
              <a:t>- https://gcc.gnu.org/onlinedocs/gcc/Warning-Options.html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clearQueue releases any nodes still present when the program ends. This guarantees that every successful malloc eventually has a matching free.</a:t>
            </a:r>
          </a:p>
          <a:p>
            <a:endParaRPr/>
          </a:p>
          <a:p>
            <a:r>
              <a:t>[Sources]</a:t>
            </a:r>
          </a:p>
          <a:p>
            <a:r>
              <a:t>- https://en.cppreference.com/w/c/memory/malloc</a:t>
            </a:r>
          </a:p>
          <a:p>
            <a:r>
              <a:t>- https://en.cppreference.com/w/c/memory/free</a:t>
            </a:r>
          </a:p>
          <a:p>
            <a:r>
              <a:t>- https://gcc.gnu.org/onlinedocs/gcc/Warning-Options.html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menu panel represents the repeated menu block. Read the two session columns from top to bottom and connect each output line to the function that produced it.</a:t>
            </a:r>
          </a:p>
          <a:p>
            <a:endParaRPr/>
          </a:p>
          <a:p>
            <a:r>
              <a:t>[Sources]</a:t>
            </a:r>
          </a:p>
          <a:p>
            <a:r>
              <a:t>- https://gcc.gnu.org/onlinedocs/gcc/Warning-Options.html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Constant time does not mean zero work; it means the number of pointer updates does not grow with the number of nodes. Display is linear because it must visit every node.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https://xlinux.nist.gov/dads/HTML/linkedList.html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Avoid declaring a winner. Arrays are compact and cache-friendly; linked lists avoid a fixed capacity but pay for pointers and allocations.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https://xlinux.nist.gov/dads/HTML/linkedList.html</a:t>
            </a:r>
          </a:p>
          <a:p>
            <a:r>
              <a:t>- https://en.cppreference.com/w/c/memory/malloc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each application, say what the queue elements represent: processes, jobs, packets, customers, vertices, requests or events. The FIFO link should be explicit.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students to answer using the diagrams, not memorised definitions. Full references: NIST Queue and Linked List entries; cppreference malloc/free; GNU GCC warning options.</a:t>
            </a:r>
          </a:p>
          <a:p>
            <a:endParaRPr/>
          </a:p>
          <a:p>
            <a:r>
              <a:t>[Sources]</a:t>
            </a:r>
          </a:p>
          <a:p>
            <a:r>
              <a:t>- https://xlinux.nist.gov/dads/HTML/queue.html</a:t>
            </a:r>
          </a:p>
          <a:p>
            <a:r>
              <a:t>- https://xlinux.nist.gov/dads/HTML/linkedList.html</a:t>
            </a:r>
          </a:p>
          <a:p>
            <a:r>
              <a:t>- https://en.cppreference.com/w/c/memory/malloc</a:t>
            </a:r>
          </a:p>
          <a:p>
            <a:r>
              <a:t>- https://en.cppreference.com/w/c/memory/free</a:t>
            </a:r>
          </a:p>
          <a:p>
            <a:r>
              <a:t>- https://gcc.gnu.org/onlinedocs/gcc/Warning-Options.html</a:t>
            </a:r>
          </a:p>
          <a:p>
            <a:r>
              <a:t>- https://support.microsoft.com/en-US/PowerPoint/training/use-the-morph-transition-in-powerpoint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80FDA90-8B3F-4F41-8C15-5C585D7096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FE0808-9864-41E5-8CAF-BF1DEDAC6BE9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F6FED"/>
                </a:solidFill>
                <a:latin typeface="Aptos"/>
                <a:ea typeface="Aptos"/>
                <a:cs typeface="Aptos"/>
              </a:rPr>
              <a:t>DATA STRUCTURE</a:t>
            </a:r>
            <a:r>
              <a:rPr lang="en-US" sz="1125" b="1" dirty="0">
                <a:solidFill>
                  <a:srgbClr val="2F6FED"/>
                </a:solidFill>
                <a:latin typeface="Aptos"/>
                <a:ea typeface="Aptos"/>
                <a:cs typeface="Aptos"/>
              </a:rPr>
              <a:t>S </a:t>
            </a:r>
            <a:endParaRPr sz="1125" b="1" dirty="0">
              <a:solidFill>
                <a:srgbClr val="2F6F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EC939A-8151-4620-A7D6-60BC474B2D00}"/>
              </a:ext>
            </a:extLst>
          </p:cNvPr>
          <p:cNvSpPr>
            <a:spLocks noGrp="1"/>
          </p:cNvSpPr>
          <p:nvPr/>
        </p:nvSpPr>
        <p:spPr>
          <a:xfrm>
            <a:off x="647700" y="952500"/>
            <a:ext cx="6667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1701"/>
          </a:bodyPr>
          <a:lstStyle/>
          <a:p>
            <a:pPr algn="l">
              <a:defRPr sz="49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QUEUE IMPLEMENTATION</a:t>
            </a:r>
          </a:p>
          <a:p>
            <a:pPr algn="l">
              <a:defRPr sz="49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USING LINKED LIST IN 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23B532-92DC-4763-A21C-FE419C6A61AC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619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441"/>
          </a:bodyPr>
          <a:lstStyle/>
          <a:p>
            <a:pPr algn="l">
              <a:defRPr sz="2100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5F7187"/>
                </a:solidFill>
                <a:latin typeface="Aptos"/>
                <a:ea typeface="Aptos"/>
                <a:cs typeface="Aptos"/>
              </a:rPr>
              <a:t>Dynamic Implementation of the FIFO Data Structure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15FAEA-42E9-44AB-8738-922603340256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FIFO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FE4A01-AFCD-4CA6-B0BB-79ABB40FBFA2}"/>
              </a:ext>
            </a:extLst>
          </p:cNvPr>
          <p:cNvSpPr>
            <a:spLocks noGrp="1"/>
          </p:cNvSpPr>
          <p:nvPr/>
        </p:nvSpPr>
        <p:spPr>
          <a:xfrm>
            <a:off x="1828800" y="342900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DYNAMIC MEMORY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CCD0F9-B727-401E-B4EA-6EC3EA35641B}"/>
              </a:ext>
            </a:extLst>
          </p:cNvPr>
          <p:cNvSpPr>
            <a:spLocks noGrp="1"/>
          </p:cNvSpPr>
          <p:nvPr/>
        </p:nvSpPr>
        <p:spPr>
          <a:xfrm>
            <a:off x="3771900" y="34290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STANDARD 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F33892-0B29-46A2-8970-5B256446B5FF}"/>
              </a:ext>
            </a:extLst>
          </p:cNvPr>
          <p:cNvSpPr>
            <a:spLocks noGrp="1"/>
          </p:cNvSpPr>
          <p:nvPr/>
        </p:nvSpPr>
        <p:spPr>
          <a:xfrm>
            <a:off x="704851" y="4286250"/>
            <a:ext cx="4369174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Student Name: </a:t>
            </a:r>
            <a:r>
              <a:rPr lang="en-US" sz="1575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Athisaya U(192571001),Monika B, </a:t>
            </a:r>
            <a:r>
              <a:rPr lang="en-US" sz="1575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Papagari</a:t>
            </a:r>
            <a:r>
              <a:rPr lang="en-US" sz="1575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Pushpa Charitha(192525371)</a:t>
            </a:r>
          </a:p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endParaRPr sz="1575" b="0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Course / Subject: </a:t>
            </a:r>
            <a:r>
              <a:rPr lang="en-US" sz="1575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 structures (CSA0312)</a:t>
            </a:r>
            <a:endParaRPr sz="1575" b="0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!!node-10-data">
            <a:extLst>
              <a:ext uri="{FF2B5EF4-FFF2-40B4-BE49-F238E27FC236}">
                <a16:creationId xmlns:a16="http://schemas.microsoft.com/office/drawing/2014/main" id="{DB0C4026-B74B-466F-974F-35F385536AC2}"/>
              </a:ext>
            </a:extLst>
          </p:cNvPr>
          <p:cNvSpPr>
            <a:spLocks noGrp="1"/>
          </p:cNvSpPr>
          <p:nvPr/>
        </p:nvSpPr>
        <p:spPr>
          <a:xfrm>
            <a:off x="7000875" y="271462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!!node-10-next">
            <a:extLst>
              <a:ext uri="{FF2B5EF4-FFF2-40B4-BE49-F238E27FC236}">
                <a16:creationId xmlns:a16="http://schemas.microsoft.com/office/drawing/2014/main" id="{A361FB7A-2264-429C-9CB7-414BCB5CCC6A}"/>
              </a:ext>
            </a:extLst>
          </p:cNvPr>
          <p:cNvSpPr>
            <a:spLocks noGrp="1"/>
          </p:cNvSpPr>
          <p:nvPr/>
        </p:nvSpPr>
        <p:spPr>
          <a:xfrm>
            <a:off x="8029575" y="271462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!!node-20-data">
            <a:extLst>
              <a:ext uri="{FF2B5EF4-FFF2-40B4-BE49-F238E27FC236}">
                <a16:creationId xmlns:a16="http://schemas.microsoft.com/office/drawing/2014/main" id="{9B170CD2-4812-4B23-A739-20EBFAB7B652}"/>
              </a:ext>
            </a:extLst>
          </p:cNvPr>
          <p:cNvSpPr>
            <a:spLocks noGrp="1"/>
          </p:cNvSpPr>
          <p:nvPr/>
        </p:nvSpPr>
        <p:spPr>
          <a:xfrm>
            <a:off x="8620125" y="271462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2" name="!!node-20-next">
            <a:extLst>
              <a:ext uri="{FF2B5EF4-FFF2-40B4-BE49-F238E27FC236}">
                <a16:creationId xmlns:a16="http://schemas.microsoft.com/office/drawing/2014/main" id="{F2EB18C3-3745-4B18-BEDB-FBB6929079AF}"/>
              </a:ext>
            </a:extLst>
          </p:cNvPr>
          <p:cNvSpPr>
            <a:spLocks noGrp="1"/>
          </p:cNvSpPr>
          <p:nvPr/>
        </p:nvSpPr>
        <p:spPr>
          <a:xfrm>
            <a:off x="9648825" y="271462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!!node-30-data">
            <a:extLst>
              <a:ext uri="{FF2B5EF4-FFF2-40B4-BE49-F238E27FC236}">
                <a16:creationId xmlns:a16="http://schemas.microsoft.com/office/drawing/2014/main" id="{AC2CF165-9A92-407B-BBA3-4FCE8BDA259E}"/>
              </a:ext>
            </a:extLst>
          </p:cNvPr>
          <p:cNvSpPr>
            <a:spLocks noGrp="1"/>
          </p:cNvSpPr>
          <p:nvPr/>
        </p:nvSpPr>
        <p:spPr>
          <a:xfrm>
            <a:off x="10239375" y="271462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4" name="!!node-30-next">
            <a:extLst>
              <a:ext uri="{FF2B5EF4-FFF2-40B4-BE49-F238E27FC236}">
                <a16:creationId xmlns:a16="http://schemas.microsoft.com/office/drawing/2014/main" id="{0B42FB77-8F05-4E78-AB6F-7445B4C351A6}"/>
              </a:ext>
            </a:extLst>
          </p:cNvPr>
          <p:cNvSpPr>
            <a:spLocks noGrp="1"/>
          </p:cNvSpPr>
          <p:nvPr/>
        </p:nvSpPr>
        <p:spPr>
          <a:xfrm>
            <a:off x="11268075" y="271462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38" name="Straight Arrow Connector 37"/>
          <p:cNvCxnSpPr>
            <a:stCxn id="10" idx="3"/>
            <a:endCxn id="11" idx="1"/>
          </p:cNvCxnSpPr>
          <p:nvPr/>
        </p:nvCxnSpPr>
        <p:spPr>
          <a:xfrm flipH="1">
            <a:off x="8620125" y="3067050"/>
            <a:ext cx="152400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cxnSp>
        <p:nvCxnSpPr>
          <p:cNvPr id="39" name="Straight Arrow Connector 38"/>
          <p:cNvCxnSpPr>
            <a:stCxn id="12" idx="3"/>
            <a:endCxn id="13" idx="1"/>
          </p:cNvCxnSpPr>
          <p:nvPr/>
        </p:nvCxnSpPr>
        <p:spPr>
          <a:xfrm flipH="1">
            <a:off x="10239375" y="3067050"/>
            <a:ext cx="152400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sp>
        <p:nvSpPr>
          <p:cNvPr id="17" name="!!front-label">
            <a:extLst>
              <a:ext uri="{FF2B5EF4-FFF2-40B4-BE49-F238E27FC236}">
                <a16:creationId xmlns:a16="http://schemas.microsoft.com/office/drawing/2014/main" id="{98FE38E7-8AAC-4197-8E89-A7FFB66348A2}"/>
              </a:ext>
            </a:extLst>
          </p:cNvPr>
          <p:cNvSpPr>
            <a:spLocks noGrp="1"/>
          </p:cNvSpPr>
          <p:nvPr/>
        </p:nvSpPr>
        <p:spPr>
          <a:xfrm>
            <a:off x="6905625" y="202882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</a:t>
            </a:r>
          </a:p>
        </p:txBody>
      </p:sp>
      <p:cxnSp>
        <p:nvCxnSpPr>
          <p:cNvPr id="41" name="Straight Arrow Connector 40"/>
          <p:cNvCxnSpPr>
            <a:stCxn id="17" idx="2"/>
            <a:endCxn id="9" idx="0"/>
          </p:cNvCxnSpPr>
          <p:nvPr/>
        </p:nvCxnSpPr>
        <p:spPr>
          <a:xfrm>
            <a:off x="7439025" y="2352675"/>
            <a:ext cx="76200" cy="361950"/>
          </a:xfrm>
          <a:prstGeom prst="straightConnector1">
            <a:avLst/>
          </a:prstGeom>
          <a:ln w="28575">
            <a:solidFill>
              <a:srgbClr val="2E9D65"/>
            </a:solidFill>
            <a:prstDash val="solid"/>
            <a:tailEnd type="arrow" w="med" len="med"/>
          </a:ln>
        </p:spPr>
      </p:cxnSp>
      <p:sp>
        <p:nvSpPr>
          <p:cNvPr id="19" name="!!rear-label">
            <a:extLst>
              <a:ext uri="{FF2B5EF4-FFF2-40B4-BE49-F238E27FC236}">
                <a16:creationId xmlns:a16="http://schemas.microsoft.com/office/drawing/2014/main" id="{E3CD271D-620D-48A8-8A6C-4A4BAC5E808A}"/>
              </a:ext>
            </a:extLst>
          </p:cNvPr>
          <p:cNvSpPr>
            <a:spLocks noGrp="1"/>
          </p:cNvSpPr>
          <p:nvPr/>
        </p:nvSpPr>
        <p:spPr>
          <a:xfrm>
            <a:off x="10906125" y="364807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</a:t>
            </a:r>
          </a:p>
        </p:txBody>
      </p:sp>
      <p:cxnSp>
        <p:nvCxnSpPr>
          <p:cNvPr id="43" name="Straight Arrow Connector 42"/>
          <p:cNvCxnSpPr>
            <a:stCxn id="19" idx="0"/>
            <a:endCxn id="13" idx="2"/>
          </p:cNvCxnSpPr>
          <p:nvPr/>
        </p:nvCxnSpPr>
        <p:spPr>
          <a:xfrm flipH="1" flipV="1">
            <a:off x="10753725" y="3419475"/>
            <a:ext cx="685800" cy="228600"/>
          </a:xfrm>
          <a:prstGeom prst="straightConnector1">
            <a:avLst/>
          </a:prstGeom>
          <a:ln w="28575">
            <a:solidFill>
              <a:srgbClr val="F28C28"/>
            </a:solidFill>
            <a:prstDash val="solid"/>
            <a:tailEnd type="arrow" w="med" len="med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5049C3C-59B6-4555-83C1-A83540BAD2CB}"/>
              </a:ext>
            </a:extLst>
          </p:cNvPr>
          <p:cNvSpPr>
            <a:spLocks noGrp="1"/>
          </p:cNvSpPr>
          <p:nvPr/>
        </p:nvSpPr>
        <p:spPr>
          <a:xfrm>
            <a:off x="6805613" y="1666875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75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2E9D65"/>
                </a:solidFill>
                <a:latin typeface="Aptos"/>
                <a:ea typeface="Aptos"/>
                <a:cs typeface="Aptos"/>
              </a:rPr>
              <a:t>oldest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83AB3B-079A-4401-B678-8B64B86D36E0}"/>
              </a:ext>
            </a:extLst>
          </p:cNvPr>
          <p:cNvSpPr>
            <a:spLocks noGrp="1"/>
          </p:cNvSpPr>
          <p:nvPr/>
        </p:nvSpPr>
        <p:spPr>
          <a:xfrm>
            <a:off x="10715625" y="41529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F28C28"/>
                </a:solidFill>
                <a:latin typeface="Aptos"/>
                <a:ea typeface="Aptos"/>
                <a:cs typeface="Aptos"/>
              </a:rPr>
              <a:t>newest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ADDF37-FD83-48A5-A8DA-C12796CED04A}"/>
              </a:ext>
            </a:extLst>
          </p:cNvPr>
          <p:cNvSpPr>
            <a:spLocks noGrp="1"/>
          </p:cNvSpPr>
          <p:nvPr/>
        </p:nvSpPr>
        <p:spPr>
          <a:xfrm>
            <a:off x="11239500" y="64579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155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49B16ED-E703-4159-A67C-2F7A4B6397E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LEARNING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F8124-FA7C-4DA4-901D-01D643814A0D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you will be able to do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64920F1-B394-480E-B5B2-0085249AD6A2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A6993-4748-455E-8A8B-9E8E6B5818F2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B5E705-CB07-4625-8AF9-8E465A433DCC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4D9C5-D1CF-4C02-AD22-DC0690CD24AA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By the end of this seminar, you can…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58F485-8D80-4EC2-B6A0-EE7440D3D214}"/>
              </a:ext>
            </a:extLst>
          </p:cNvPr>
          <p:cNvSpPr>
            <a:spLocks noGrp="1"/>
          </p:cNvSpPr>
          <p:nvPr/>
        </p:nvSpPr>
        <p:spPr>
          <a:xfrm>
            <a:off x="590550" y="1847850"/>
            <a:ext cx="5219700" cy="37147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B7F8F3-51E6-4F80-B6E5-F30AB14E1C1C}"/>
              </a:ext>
            </a:extLst>
          </p:cNvPr>
          <p:cNvSpPr>
            <a:spLocks noGrp="1"/>
          </p:cNvSpPr>
          <p:nvPr/>
        </p:nvSpPr>
        <p:spPr>
          <a:xfrm>
            <a:off x="6057900" y="1847850"/>
            <a:ext cx="5505450" cy="37147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932A28-033E-4388-840A-20AD15E88C4E}"/>
              </a:ext>
            </a:extLst>
          </p:cNvPr>
          <p:cNvSpPr>
            <a:spLocks noGrp="1"/>
          </p:cNvSpPr>
          <p:nvPr/>
        </p:nvSpPr>
        <p:spPr>
          <a:xfrm>
            <a:off x="819150" y="212407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/>
          </a:bodyPr>
          <a:lstStyle/>
          <a:p>
            <a:pPr algn="l">
              <a:lnSpc>
                <a:spcPct val="25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Explain a queue and the FIFO principle.</a:t>
            </a:r>
          </a:p>
          <a:p>
            <a:pPr algn="l">
              <a:lnSpc>
                <a:spcPct val="25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Identify the roles of Front and Rear.</a:t>
            </a:r>
          </a:p>
          <a:p>
            <a:pPr algn="l">
              <a:lnSpc>
                <a:spcPct val="25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Describe the data and next fields in a node.</a:t>
            </a:r>
          </a:p>
          <a:p>
            <a:pPr algn="l">
              <a:lnSpc>
                <a:spcPct val="25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Perform Enqueue and Dequeue correctly.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9C2C03-351B-4A14-9127-B646079174D3}"/>
              </a:ext>
            </a:extLst>
          </p:cNvPr>
          <p:cNvSpPr>
            <a:spLocks noGrp="1"/>
          </p:cNvSpPr>
          <p:nvPr/>
        </p:nvSpPr>
        <p:spPr>
          <a:xfrm>
            <a:off x="6276975" y="2058334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 lnSpcReduction="10000"/>
          </a:bodyPr>
          <a:lstStyle/>
          <a:p>
            <a:pPr algn="l">
              <a:lnSpc>
                <a:spcPct val="25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Trace every pointer change during operations.</a:t>
            </a:r>
          </a:p>
          <a:p>
            <a:pPr algn="l">
              <a:lnSpc>
                <a:spcPct val="25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Use Peek and Display without damaging the queue.</a:t>
            </a:r>
          </a:p>
          <a:p>
            <a:pPr algn="l">
              <a:lnSpc>
                <a:spcPct val="25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Read the complete C program and </a:t>
            </a:r>
            <a:r>
              <a:rPr sz="1725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analyse</a:t>
            </a:r>
            <a:r>
              <a:rPr sz="172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complexity.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66F66C-35DC-4BBA-80CD-780B081F8A38}"/>
              </a:ext>
            </a:extLst>
          </p:cNvPr>
          <p:cNvSpPr>
            <a:spLocks noGrp="1"/>
          </p:cNvSpPr>
          <p:nvPr/>
        </p:nvSpPr>
        <p:spPr>
          <a:xfrm>
            <a:off x="1866900" y="5857875"/>
            <a:ext cx="843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00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Outcome: understand the logic — not just copy the code.</a:t>
            </a:r>
          </a:p>
        </p:txBody>
      </p:sp>
    </p:spTree>
    <p:extLst>
      <p:ext uri="{BB962C8B-B14F-4D97-AF65-F5344CB8AC3E}">
        <p14:creationId xmlns:p14="http://schemas.microsoft.com/office/powerpoint/2010/main" val="1087833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602E94B-9A6E-439C-8A2A-8534A9AD5A3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UNDERSTANDING A 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25CF6F-B38F-480A-A13E-A4402375510C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queue is a line with two different ends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4D7DCC3-D654-40F4-A1BB-71E0AE0E8B92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CED9D-20A6-4470-878B-E37C9AB36705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81C49-30EA-43B9-8EC3-091111527809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ABE296-B6A2-4748-936B-07DD31294D9E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10953750" cy="27146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AE2042-383C-4B84-A35F-14DA8617ADF7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 • leaves here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2B6901-DFA4-4552-A4BC-161F4905463B}"/>
              </a:ext>
            </a:extLst>
          </p:cNvPr>
          <p:cNvSpPr>
            <a:spLocks noGrp="1"/>
          </p:cNvSpPr>
          <p:nvPr/>
        </p:nvSpPr>
        <p:spPr>
          <a:xfrm>
            <a:off x="7823020" y="16192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 • joins here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B6CA3A-2D66-4D87-8AB6-D1717F51A9F2}"/>
              </a:ext>
            </a:extLst>
          </p:cNvPr>
          <p:cNvSpPr>
            <a:spLocks noGrp="1"/>
          </p:cNvSpPr>
          <p:nvPr/>
        </p:nvSpPr>
        <p:spPr>
          <a:xfrm>
            <a:off x="2676525" y="2238375"/>
            <a:ext cx="400050" cy="400050"/>
          </a:xfrm>
          <a:prstGeom prst="ellipse">
            <a:avLst/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1E85AF-2A88-4475-958C-7E35E7A20B89}"/>
              </a:ext>
            </a:extLst>
          </p:cNvPr>
          <p:cNvSpPr>
            <a:spLocks noGrp="1"/>
          </p:cNvSpPr>
          <p:nvPr/>
        </p:nvSpPr>
        <p:spPr>
          <a:xfrm>
            <a:off x="2495550" y="2657475"/>
            <a:ext cx="762000" cy="685800"/>
          </a:xfrm>
          <a:prstGeom prst="roundRect">
            <a:avLst>
              <a:gd name="adj" fmla="val 27778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F3B86-1CDD-41B3-A237-0390B5CD23EB}"/>
              </a:ext>
            </a:extLst>
          </p:cNvPr>
          <p:cNvSpPr>
            <a:spLocks noGrp="1"/>
          </p:cNvSpPr>
          <p:nvPr/>
        </p:nvSpPr>
        <p:spPr>
          <a:xfrm>
            <a:off x="2362200" y="3390900"/>
            <a:ext cx="102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Person 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BE85B9-46A9-456D-988B-3C5834CC2FF3}"/>
              </a:ext>
            </a:extLst>
          </p:cNvPr>
          <p:cNvSpPr>
            <a:spLocks noGrp="1"/>
          </p:cNvSpPr>
          <p:nvPr/>
        </p:nvSpPr>
        <p:spPr>
          <a:xfrm>
            <a:off x="4933950" y="2238375"/>
            <a:ext cx="400050" cy="40005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83D5E9-22A8-4A61-AEAF-AAEE8282DE8D}"/>
              </a:ext>
            </a:extLst>
          </p:cNvPr>
          <p:cNvSpPr>
            <a:spLocks noGrp="1"/>
          </p:cNvSpPr>
          <p:nvPr/>
        </p:nvSpPr>
        <p:spPr>
          <a:xfrm>
            <a:off x="4752975" y="2657475"/>
            <a:ext cx="762000" cy="685800"/>
          </a:xfrm>
          <a:prstGeom prst="roundRect">
            <a:avLst>
              <a:gd name="adj" fmla="val 27778"/>
            </a:avLst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453378-2CF1-442B-80B3-B999CDB39E20}"/>
              </a:ext>
            </a:extLst>
          </p:cNvPr>
          <p:cNvSpPr>
            <a:spLocks noGrp="1"/>
          </p:cNvSpPr>
          <p:nvPr/>
        </p:nvSpPr>
        <p:spPr>
          <a:xfrm>
            <a:off x="4619625" y="3390900"/>
            <a:ext cx="102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Person 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63CA6D-8813-43B5-B431-1AA77C42F793}"/>
              </a:ext>
            </a:extLst>
          </p:cNvPr>
          <p:cNvSpPr>
            <a:spLocks noGrp="1"/>
          </p:cNvSpPr>
          <p:nvPr/>
        </p:nvSpPr>
        <p:spPr>
          <a:xfrm>
            <a:off x="7191375" y="2238375"/>
            <a:ext cx="400050" cy="400050"/>
          </a:xfrm>
          <a:prstGeom prst="ellipse">
            <a:avLst/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12AF51-ABB8-48F3-95C9-DC00DA53936E}"/>
              </a:ext>
            </a:extLst>
          </p:cNvPr>
          <p:cNvSpPr>
            <a:spLocks noGrp="1"/>
          </p:cNvSpPr>
          <p:nvPr/>
        </p:nvSpPr>
        <p:spPr>
          <a:xfrm>
            <a:off x="7010400" y="2657475"/>
            <a:ext cx="762000" cy="685800"/>
          </a:xfrm>
          <a:prstGeom prst="roundRect">
            <a:avLst>
              <a:gd name="adj" fmla="val 27778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B1058C-29A0-4E75-B9CE-12F263C4298F}"/>
              </a:ext>
            </a:extLst>
          </p:cNvPr>
          <p:cNvSpPr>
            <a:spLocks noGrp="1"/>
          </p:cNvSpPr>
          <p:nvPr/>
        </p:nvSpPr>
        <p:spPr>
          <a:xfrm>
            <a:off x="6877050" y="3390900"/>
            <a:ext cx="102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Person C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154AF24-E15E-4C08-BF03-C288459360A7}"/>
              </a:ext>
            </a:extLst>
          </p:cNvPr>
          <p:cNvSpPr>
            <a:spLocks noGrp="1"/>
          </p:cNvSpPr>
          <p:nvPr/>
        </p:nvSpPr>
        <p:spPr>
          <a:xfrm>
            <a:off x="3276600" y="2686050"/>
            <a:ext cx="1314450" cy="0"/>
          </a:xfrm>
          <a:prstGeom prst="line">
            <a:avLst/>
          </a:prstGeom>
          <a:noFill/>
          <a:ln w="28575">
            <a:solidFill>
              <a:srgbClr val="102A43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74CFC3A-B650-443E-BEFA-9454B05F2027}"/>
              </a:ext>
            </a:extLst>
          </p:cNvPr>
          <p:cNvSpPr>
            <a:spLocks noGrp="1"/>
          </p:cNvSpPr>
          <p:nvPr/>
        </p:nvSpPr>
        <p:spPr>
          <a:xfrm>
            <a:off x="5534025" y="2686050"/>
            <a:ext cx="1314450" cy="0"/>
          </a:xfrm>
          <a:prstGeom prst="line">
            <a:avLst/>
          </a:prstGeom>
          <a:noFill/>
          <a:ln w="28575">
            <a:solidFill>
              <a:srgbClr val="102A4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EC8AEE-E439-4896-BAF7-AF68FB3DD313}"/>
              </a:ext>
            </a:extLst>
          </p:cNvPr>
          <p:cNvSpPr>
            <a:spLocks noGrp="1"/>
          </p:cNvSpPr>
          <p:nvPr/>
        </p:nvSpPr>
        <p:spPr>
          <a:xfrm>
            <a:off x="2266950" y="374332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75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entered first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E45FC3-9D05-4611-A020-C44E9D6D92CC}"/>
              </a:ext>
            </a:extLst>
          </p:cNvPr>
          <p:cNvSpPr>
            <a:spLocks noGrp="1"/>
          </p:cNvSpPr>
          <p:nvPr/>
        </p:nvSpPr>
        <p:spPr>
          <a:xfrm>
            <a:off x="6819900" y="374332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joined later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002F3C-12E4-48A1-83A5-65AAE5D7DA95}"/>
              </a:ext>
            </a:extLst>
          </p:cNvPr>
          <p:cNvSpPr>
            <a:spLocks noGrp="1"/>
          </p:cNvSpPr>
          <p:nvPr/>
        </p:nvSpPr>
        <p:spPr>
          <a:xfrm>
            <a:off x="722033" y="4305300"/>
            <a:ext cx="10096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Autofit/>
          </a:bodyPr>
          <a:lstStyle/>
          <a:p>
            <a:pPr algn="l">
              <a:lnSpc>
                <a:spcPct val="20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New people join at the Rear.</a:t>
            </a:r>
          </a:p>
          <a:p>
            <a:pPr algn="l">
              <a:lnSpc>
                <a:spcPct val="20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The person at the Front leaves first.</a:t>
            </a:r>
          </a:p>
          <a:p>
            <a:pPr algn="l">
              <a:lnSpc>
                <a:spcPct val="20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Insertion and deletion happen at opposite ends.</a:t>
            </a:r>
          </a:p>
          <a:p>
            <a:pPr algn="l">
              <a:lnSpc>
                <a:spcPct val="200000"/>
              </a:lnSpc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Therefore, the earliest arrival is served first.</a:t>
            </a:r>
          </a:p>
        </p:txBody>
      </p:sp>
    </p:spTree>
    <p:extLst>
      <p:ext uri="{BB962C8B-B14F-4D97-AF65-F5344CB8AC3E}">
        <p14:creationId xmlns:p14="http://schemas.microsoft.com/office/powerpoint/2010/main" val="151033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302321-4DFB-4409-88D5-BB0C104E649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TERMINOLOGY AND OPERATIONS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6BEBFB-B24D-4D15-810E-B8EC35ED5706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Front removes; Rear inserts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58C6992-E5C7-4C02-B239-A72C133FD7DB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ECA50A-2B34-449E-82B0-08BB163CF75E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441EE6-BE2A-44C9-B60C-627EB3B4663E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!!node-10-data">
            <a:extLst>
              <a:ext uri="{FF2B5EF4-FFF2-40B4-BE49-F238E27FC236}">
                <a16:creationId xmlns:a16="http://schemas.microsoft.com/office/drawing/2014/main" id="{2309F8DC-B7DD-4F0F-B647-59CC95177753}"/>
              </a:ext>
            </a:extLst>
          </p:cNvPr>
          <p:cNvSpPr>
            <a:spLocks noGrp="1"/>
          </p:cNvSpPr>
          <p:nvPr/>
        </p:nvSpPr>
        <p:spPr>
          <a:xfrm>
            <a:off x="2381250" y="2076450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!!node-10-next">
            <a:extLst>
              <a:ext uri="{FF2B5EF4-FFF2-40B4-BE49-F238E27FC236}">
                <a16:creationId xmlns:a16="http://schemas.microsoft.com/office/drawing/2014/main" id="{A7A6B1D0-3C9D-4610-940A-93FCE73C9B78}"/>
              </a:ext>
            </a:extLst>
          </p:cNvPr>
          <p:cNvSpPr>
            <a:spLocks noGrp="1"/>
          </p:cNvSpPr>
          <p:nvPr/>
        </p:nvSpPr>
        <p:spPr>
          <a:xfrm>
            <a:off x="3409950" y="2076450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!!node-20-data">
            <a:extLst>
              <a:ext uri="{FF2B5EF4-FFF2-40B4-BE49-F238E27FC236}">
                <a16:creationId xmlns:a16="http://schemas.microsoft.com/office/drawing/2014/main" id="{5643A709-060D-471C-8422-7903204241FD}"/>
              </a:ext>
            </a:extLst>
          </p:cNvPr>
          <p:cNvSpPr>
            <a:spLocks noGrp="1"/>
          </p:cNvSpPr>
          <p:nvPr/>
        </p:nvSpPr>
        <p:spPr>
          <a:xfrm>
            <a:off x="4714875" y="2076450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9" name="!!node-20-next">
            <a:extLst>
              <a:ext uri="{FF2B5EF4-FFF2-40B4-BE49-F238E27FC236}">
                <a16:creationId xmlns:a16="http://schemas.microsoft.com/office/drawing/2014/main" id="{AD708C2D-D4B2-4FB5-A336-CE202E1481C8}"/>
              </a:ext>
            </a:extLst>
          </p:cNvPr>
          <p:cNvSpPr>
            <a:spLocks noGrp="1"/>
          </p:cNvSpPr>
          <p:nvPr/>
        </p:nvSpPr>
        <p:spPr>
          <a:xfrm>
            <a:off x="5743575" y="2076450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!!node-30-data">
            <a:extLst>
              <a:ext uri="{FF2B5EF4-FFF2-40B4-BE49-F238E27FC236}">
                <a16:creationId xmlns:a16="http://schemas.microsoft.com/office/drawing/2014/main" id="{2212E86D-FB8B-4C29-8A04-389E82B3913E}"/>
              </a:ext>
            </a:extLst>
          </p:cNvPr>
          <p:cNvSpPr>
            <a:spLocks noGrp="1"/>
          </p:cNvSpPr>
          <p:nvPr/>
        </p:nvSpPr>
        <p:spPr>
          <a:xfrm>
            <a:off x="7048500" y="2076450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1" name="!!node-30-next">
            <a:extLst>
              <a:ext uri="{FF2B5EF4-FFF2-40B4-BE49-F238E27FC236}">
                <a16:creationId xmlns:a16="http://schemas.microsoft.com/office/drawing/2014/main" id="{6F126032-1DDD-4A58-BF26-E218B37636FE}"/>
              </a:ext>
            </a:extLst>
          </p:cNvPr>
          <p:cNvSpPr>
            <a:spLocks noGrp="1"/>
          </p:cNvSpPr>
          <p:nvPr/>
        </p:nvSpPr>
        <p:spPr>
          <a:xfrm>
            <a:off x="8077200" y="2076450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43" name="Straight Arrow Connector 42"/>
          <p:cNvCxnSpPr>
            <a:stCxn id="7" idx="3"/>
            <a:endCxn id="8" idx="1"/>
          </p:cNvCxnSpPr>
          <p:nvPr/>
        </p:nvCxnSpPr>
        <p:spPr>
          <a:xfrm>
            <a:off x="4152900" y="2428875"/>
            <a:ext cx="561975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cxnSp>
        <p:nvCxnSpPr>
          <p:cNvPr id="44" name="Straight Arrow Connector 43"/>
          <p:cNvCxnSpPr>
            <a:stCxn id="9" idx="3"/>
            <a:endCxn id="10" idx="1"/>
          </p:cNvCxnSpPr>
          <p:nvPr/>
        </p:nvCxnSpPr>
        <p:spPr>
          <a:xfrm>
            <a:off x="6486525" y="2428875"/>
            <a:ext cx="561975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sp>
        <p:nvSpPr>
          <p:cNvPr id="14" name="!!front-label">
            <a:extLst>
              <a:ext uri="{FF2B5EF4-FFF2-40B4-BE49-F238E27FC236}">
                <a16:creationId xmlns:a16="http://schemas.microsoft.com/office/drawing/2014/main" id="{94E77CA4-8A09-4C3C-AFB1-DF5F624CE4AD}"/>
              </a:ext>
            </a:extLst>
          </p:cNvPr>
          <p:cNvSpPr>
            <a:spLocks noGrp="1"/>
          </p:cNvSpPr>
          <p:nvPr/>
        </p:nvSpPr>
        <p:spPr>
          <a:xfrm>
            <a:off x="2286000" y="139065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</a:t>
            </a:r>
          </a:p>
        </p:txBody>
      </p:sp>
      <p:cxnSp>
        <p:nvCxnSpPr>
          <p:cNvPr id="46" name="Straight Arrow Connector 45"/>
          <p:cNvCxnSpPr>
            <a:stCxn id="14" idx="2"/>
            <a:endCxn id="6" idx="0"/>
          </p:cNvCxnSpPr>
          <p:nvPr/>
        </p:nvCxnSpPr>
        <p:spPr>
          <a:xfrm>
            <a:off x="2819400" y="1714500"/>
            <a:ext cx="76200" cy="361950"/>
          </a:xfrm>
          <a:prstGeom prst="straightConnector1">
            <a:avLst/>
          </a:prstGeom>
          <a:ln w="28575">
            <a:solidFill>
              <a:srgbClr val="2E9D65"/>
            </a:solidFill>
            <a:prstDash val="solid"/>
            <a:tailEnd type="arrow" w="med" len="med"/>
          </a:ln>
        </p:spPr>
      </p:cxnSp>
      <p:sp>
        <p:nvSpPr>
          <p:cNvPr id="16" name="!!rear-label">
            <a:extLst>
              <a:ext uri="{FF2B5EF4-FFF2-40B4-BE49-F238E27FC236}">
                <a16:creationId xmlns:a16="http://schemas.microsoft.com/office/drawing/2014/main" id="{254BE872-C5E6-4ED3-B744-4094516176D7}"/>
              </a:ext>
            </a:extLst>
          </p:cNvPr>
          <p:cNvSpPr>
            <a:spLocks noGrp="1"/>
          </p:cNvSpPr>
          <p:nvPr/>
        </p:nvSpPr>
        <p:spPr>
          <a:xfrm>
            <a:off x="7715250" y="300990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</a:t>
            </a:r>
          </a:p>
        </p:txBody>
      </p:sp>
      <p:cxnSp>
        <p:nvCxnSpPr>
          <p:cNvPr id="48" name="Straight Arrow Connector 47"/>
          <p:cNvCxnSpPr>
            <a:stCxn id="16" idx="0"/>
            <a:endCxn id="10" idx="2"/>
          </p:cNvCxnSpPr>
          <p:nvPr/>
        </p:nvCxnSpPr>
        <p:spPr>
          <a:xfrm flipH="1" flipV="1">
            <a:off x="7562850" y="2781300"/>
            <a:ext cx="685800" cy="228600"/>
          </a:xfrm>
          <a:prstGeom prst="straightConnector1">
            <a:avLst/>
          </a:prstGeom>
          <a:ln w="28575">
            <a:solidFill>
              <a:srgbClr val="F28C28"/>
            </a:solidFill>
            <a:prstDash val="solid"/>
            <a:tailEnd type="arrow" w="med" len="me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4BC6800-93E8-4BBE-A8CB-942E68A80373}"/>
              </a:ext>
            </a:extLst>
          </p:cNvPr>
          <p:cNvSpPr>
            <a:spLocks noGrp="1"/>
          </p:cNvSpPr>
          <p:nvPr/>
        </p:nvSpPr>
        <p:spPr>
          <a:xfrm>
            <a:off x="3305175" y="13906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2E9D65"/>
                </a:solidFill>
                <a:latin typeface="Aptos"/>
                <a:ea typeface="Aptos"/>
                <a:cs typeface="Aptos"/>
              </a:rPr>
              <a:t>Oldest element — removed next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1D410D-B11C-4973-82D3-07B6B4F25C0C}"/>
              </a:ext>
            </a:extLst>
          </p:cNvPr>
          <p:cNvSpPr>
            <a:spLocks noGrp="1"/>
          </p:cNvSpPr>
          <p:nvPr/>
        </p:nvSpPr>
        <p:spPr>
          <a:xfrm>
            <a:off x="8048625" y="3438524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28C28"/>
                </a:solidFill>
                <a:latin typeface="Aptos"/>
                <a:ea typeface="Aptos"/>
                <a:cs typeface="Aptos"/>
              </a:rPr>
              <a:t>Newest element — insertion end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497547-4B4F-4EEE-B01B-7188A3E0C007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Enqueue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4FD7FE-B098-477E-9894-B4D303D89FDF}"/>
              </a:ext>
            </a:extLst>
          </p:cNvPr>
          <p:cNvSpPr>
            <a:spLocks noGrp="1"/>
          </p:cNvSpPr>
          <p:nvPr/>
        </p:nvSpPr>
        <p:spPr>
          <a:xfrm>
            <a:off x="1905000" y="5010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1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Insert at Rear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5FFEFF9-ECFB-4A73-BDC5-120052F02160}"/>
              </a:ext>
            </a:extLst>
          </p:cNvPr>
          <p:cNvSpPr>
            <a:spLocks noGrp="1"/>
          </p:cNvSpPr>
          <p:nvPr/>
        </p:nvSpPr>
        <p:spPr>
          <a:xfrm>
            <a:off x="4429125" y="500062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Dequeue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0D2274-DA14-4927-ABE7-6199CF2B00A0}"/>
              </a:ext>
            </a:extLst>
          </p:cNvPr>
          <p:cNvSpPr>
            <a:spLocks noGrp="1"/>
          </p:cNvSpPr>
          <p:nvPr/>
        </p:nvSpPr>
        <p:spPr>
          <a:xfrm>
            <a:off x="5667375" y="5010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1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Remove at Front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DED453-31CE-4BFC-9272-4F16CC42DA6B}"/>
              </a:ext>
            </a:extLst>
          </p:cNvPr>
          <p:cNvSpPr>
            <a:spLocks noGrp="1"/>
          </p:cNvSpPr>
          <p:nvPr/>
        </p:nvSpPr>
        <p:spPr>
          <a:xfrm>
            <a:off x="8191500" y="500062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7559D9"/>
          </a:solidFill>
          <a:ln w="9525">
            <a:solidFill>
              <a:srgbClr val="7559D9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Peek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28F77A-144B-4C51-8C9C-21D5E5276BC7}"/>
              </a:ext>
            </a:extLst>
          </p:cNvPr>
          <p:cNvSpPr>
            <a:spLocks noGrp="1"/>
          </p:cNvSpPr>
          <p:nvPr/>
        </p:nvSpPr>
        <p:spPr>
          <a:xfrm>
            <a:off x="9429750" y="5010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1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Read Front without deletion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6D5D53-5FDD-4F56-919F-ACFC4DD5CBE9}"/>
              </a:ext>
            </a:extLst>
          </p:cNvPr>
          <p:cNvSpPr>
            <a:spLocks noGrp="1"/>
          </p:cNvSpPr>
          <p:nvPr/>
        </p:nvSpPr>
        <p:spPr>
          <a:xfrm>
            <a:off x="666750" y="559117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9525">
            <a:solidFill>
              <a:srgbClr val="2B7A7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D9DD3C-9A7E-409B-9E12-EA4A5D57B4A9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1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Traverse Front → NULL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9E5BC9B-3BD0-4A21-AF67-FAB867108E50}"/>
              </a:ext>
            </a:extLst>
          </p:cNvPr>
          <p:cNvSpPr>
            <a:spLocks noGrp="1"/>
          </p:cNvSpPr>
          <p:nvPr/>
        </p:nvSpPr>
        <p:spPr>
          <a:xfrm>
            <a:off x="4429125" y="559117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Underflow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C3295A-8D81-4C07-AC2E-980BE51DC2AE}"/>
              </a:ext>
            </a:extLst>
          </p:cNvPr>
          <p:cNvSpPr>
            <a:spLocks noGrp="1"/>
          </p:cNvSpPr>
          <p:nvPr/>
        </p:nvSpPr>
        <p:spPr>
          <a:xfrm>
            <a:off x="5667375" y="5600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1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Delete from an empty queue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8585A4-2B06-4EA1-BDD1-A8D4CD8ABE27}"/>
              </a:ext>
            </a:extLst>
          </p:cNvPr>
          <p:cNvSpPr>
            <a:spLocks noGrp="1"/>
          </p:cNvSpPr>
          <p:nvPr/>
        </p:nvSpPr>
        <p:spPr>
          <a:xfrm>
            <a:off x="8191500" y="559117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Overflow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BDAAAB-BC2F-40B1-9FFE-9861B3DAAD18}"/>
              </a:ext>
            </a:extLst>
          </p:cNvPr>
          <p:cNvSpPr>
            <a:spLocks noGrp="1"/>
          </p:cNvSpPr>
          <p:nvPr/>
        </p:nvSpPr>
        <p:spPr>
          <a:xfrm>
            <a:off x="9429750" y="5600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1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malloc() cannot obtain memory</a:t>
            </a:r>
          </a:p>
        </p:txBody>
      </p:sp>
    </p:spTree>
    <p:extLst>
      <p:ext uri="{BB962C8B-B14F-4D97-AF65-F5344CB8AC3E}">
        <p14:creationId xmlns:p14="http://schemas.microsoft.com/office/powerpoint/2010/main" val="190579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AC6A204-A769-43B5-8350-5F29560D3EF2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WHY NOT ALWAYS USE AN ARRAY?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EABBDE-619A-4C22-85E3-A42735F5E98F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fixed array can fill before memory is exhausted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9AB4C5A-0ED6-42F8-88D9-7DD2EB0F2488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631365-2CB7-43A5-B7F5-7756F80831FC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A8603-4E82-44AE-9AE9-3A59F7A36D5B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3FC15A-53D5-4A2F-BD37-1BA7F0D955D3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Fixed-capacity array queue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0E9AFF-4362-4AEA-9CED-F864923FAC7D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857250" cy="742950"/>
          </a:xfrm>
          <a:prstGeom prst="rect">
            <a:avLst/>
          </a:prstGeom>
          <a:solidFill>
            <a:srgbClr val="EAF1FF"/>
          </a:solidFill>
          <a:ln w="19050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A601FE-1B9F-42AF-A887-9F427F76DD89}"/>
              </a:ext>
            </a:extLst>
          </p:cNvPr>
          <p:cNvSpPr>
            <a:spLocks noGrp="1"/>
          </p:cNvSpPr>
          <p:nvPr/>
        </p:nvSpPr>
        <p:spPr>
          <a:xfrm>
            <a:off x="1743075" y="1952625"/>
            <a:ext cx="857250" cy="742950"/>
          </a:xfrm>
          <a:prstGeom prst="rect">
            <a:avLst/>
          </a:prstGeom>
          <a:solidFill>
            <a:srgbClr val="EAF1FF"/>
          </a:solidFill>
          <a:ln w="19050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FAF169-1044-4847-8150-E115F358EC46}"/>
              </a:ext>
            </a:extLst>
          </p:cNvPr>
          <p:cNvSpPr>
            <a:spLocks noGrp="1"/>
          </p:cNvSpPr>
          <p:nvPr/>
        </p:nvSpPr>
        <p:spPr>
          <a:xfrm>
            <a:off x="2724150" y="1952625"/>
            <a:ext cx="857250" cy="742950"/>
          </a:xfrm>
          <a:prstGeom prst="rect">
            <a:avLst/>
          </a:prstGeom>
          <a:solidFill>
            <a:srgbClr val="EAF1FF"/>
          </a:solidFill>
          <a:ln w="19050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ABA276-857E-48CD-A45E-2994C3B1127C}"/>
              </a:ext>
            </a:extLst>
          </p:cNvPr>
          <p:cNvSpPr>
            <a:spLocks noGrp="1"/>
          </p:cNvSpPr>
          <p:nvPr/>
        </p:nvSpPr>
        <p:spPr>
          <a:xfrm>
            <a:off x="3705225" y="1952625"/>
            <a:ext cx="857250" cy="742950"/>
          </a:xfrm>
          <a:prstGeom prst="rect">
            <a:avLst/>
          </a:prstGeom>
          <a:solidFill>
            <a:srgbClr val="FDECEC"/>
          </a:solidFill>
          <a:ln w="19050">
            <a:solidFill>
              <a:srgbClr val="D64545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empty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A8E82E-3D3E-4DD4-B9CB-665EA3884E58}"/>
              </a:ext>
            </a:extLst>
          </p:cNvPr>
          <p:cNvSpPr>
            <a:spLocks noGrp="1"/>
          </p:cNvSpPr>
          <p:nvPr/>
        </p:nvSpPr>
        <p:spPr>
          <a:xfrm>
            <a:off x="4686300" y="1952625"/>
            <a:ext cx="857250" cy="742950"/>
          </a:xfrm>
          <a:prstGeom prst="rect">
            <a:avLst/>
          </a:prstGeom>
          <a:solidFill>
            <a:srgbClr val="FDECEC"/>
          </a:solidFill>
          <a:ln w="19050">
            <a:solidFill>
              <a:srgbClr val="D64545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empty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937F93-7210-4A45-9E44-5E9439CCFFDA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Capacity was decided before execution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29D53F-975E-4D04-894C-487C1CAC3BCC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514350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/>
          </a:bodyPr>
          <a:lstStyle/>
          <a:p>
            <a:pPr algn="l">
              <a:lnSpc>
                <a:spcPct val="15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Capacity normally must be chosen in advance.</a:t>
            </a:r>
          </a:p>
          <a:p>
            <a:pPr algn="l">
              <a:lnSpc>
                <a:spcPct val="15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A full array cannot accept another item without resizing.</a:t>
            </a:r>
          </a:p>
          <a:p>
            <a:pPr algn="l">
              <a:lnSpc>
                <a:spcPct val="15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Reserved cells may remain unused when the queue is small.</a:t>
            </a:r>
          </a:p>
          <a:p>
            <a:pPr algn="l">
              <a:lnSpc>
                <a:spcPct val="15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Growing usually means allocating and moving to another array.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1FBEF-D186-407B-B353-B573D1931D5F}"/>
              </a:ext>
            </a:extLst>
          </p:cNvPr>
          <p:cNvSpPr>
            <a:spLocks noGrp="1"/>
          </p:cNvSpPr>
          <p:nvPr/>
        </p:nvSpPr>
        <p:spPr>
          <a:xfrm>
            <a:off x="6334125" y="1376363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2E9D65"/>
                </a:solidFill>
                <a:latin typeface="Aptos"/>
                <a:ea typeface="Aptos"/>
                <a:cs typeface="Aptos"/>
              </a:rPr>
              <a:t>Linked-list queue</a:t>
            </a:r>
          </a:p>
        </p:txBody>
      </p:sp>
      <p:sp>
        <p:nvSpPr>
          <p:cNvPr id="15" name="!!node-10-data">
            <a:extLst>
              <a:ext uri="{FF2B5EF4-FFF2-40B4-BE49-F238E27FC236}">
                <a16:creationId xmlns:a16="http://schemas.microsoft.com/office/drawing/2014/main" id="{3E2B6F3A-07D8-4CAE-84B6-6F4E4DE63E3A}"/>
              </a:ext>
            </a:extLst>
          </p:cNvPr>
          <p:cNvSpPr>
            <a:spLocks noGrp="1"/>
          </p:cNvSpPr>
          <p:nvPr/>
        </p:nvSpPr>
        <p:spPr>
          <a:xfrm>
            <a:off x="6477000" y="233362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6" name="!!node-10-next">
            <a:extLst>
              <a:ext uri="{FF2B5EF4-FFF2-40B4-BE49-F238E27FC236}">
                <a16:creationId xmlns:a16="http://schemas.microsoft.com/office/drawing/2014/main" id="{4DA59299-4C3F-4480-90DB-C16F85BAE573}"/>
              </a:ext>
            </a:extLst>
          </p:cNvPr>
          <p:cNvSpPr>
            <a:spLocks noGrp="1"/>
          </p:cNvSpPr>
          <p:nvPr/>
        </p:nvSpPr>
        <p:spPr>
          <a:xfrm>
            <a:off x="7505700" y="233362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!!node-20-data">
            <a:extLst>
              <a:ext uri="{FF2B5EF4-FFF2-40B4-BE49-F238E27FC236}">
                <a16:creationId xmlns:a16="http://schemas.microsoft.com/office/drawing/2014/main" id="{E6508F3B-9A30-4A2E-AFA7-75F3F64FBAE1}"/>
              </a:ext>
            </a:extLst>
          </p:cNvPr>
          <p:cNvSpPr>
            <a:spLocks noGrp="1"/>
          </p:cNvSpPr>
          <p:nvPr/>
        </p:nvSpPr>
        <p:spPr>
          <a:xfrm>
            <a:off x="8191500" y="233362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8" name="!!node-20-next">
            <a:extLst>
              <a:ext uri="{FF2B5EF4-FFF2-40B4-BE49-F238E27FC236}">
                <a16:creationId xmlns:a16="http://schemas.microsoft.com/office/drawing/2014/main" id="{653A15B9-DF73-4951-B398-7A4F40FEAB8C}"/>
              </a:ext>
            </a:extLst>
          </p:cNvPr>
          <p:cNvSpPr>
            <a:spLocks noGrp="1"/>
          </p:cNvSpPr>
          <p:nvPr/>
        </p:nvSpPr>
        <p:spPr>
          <a:xfrm>
            <a:off x="9220200" y="233362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!!node-30-data">
            <a:extLst>
              <a:ext uri="{FF2B5EF4-FFF2-40B4-BE49-F238E27FC236}">
                <a16:creationId xmlns:a16="http://schemas.microsoft.com/office/drawing/2014/main" id="{280266BD-AF9D-43E6-BB70-AAC39A49E4FD}"/>
              </a:ext>
            </a:extLst>
          </p:cNvPr>
          <p:cNvSpPr>
            <a:spLocks noGrp="1"/>
          </p:cNvSpPr>
          <p:nvPr/>
        </p:nvSpPr>
        <p:spPr>
          <a:xfrm>
            <a:off x="9906000" y="233362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0" name="!!node-30-next">
            <a:extLst>
              <a:ext uri="{FF2B5EF4-FFF2-40B4-BE49-F238E27FC236}">
                <a16:creationId xmlns:a16="http://schemas.microsoft.com/office/drawing/2014/main" id="{818394C7-A9AF-4A93-86D2-660FBA3A0FF7}"/>
              </a:ext>
            </a:extLst>
          </p:cNvPr>
          <p:cNvSpPr>
            <a:spLocks noGrp="1"/>
          </p:cNvSpPr>
          <p:nvPr/>
        </p:nvSpPr>
        <p:spPr>
          <a:xfrm>
            <a:off x="10934700" y="233362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49" name="Straight Arrow Connector 48"/>
          <p:cNvCxnSpPr>
            <a:stCxn id="16" idx="3"/>
            <a:endCxn id="17" idx="1"/>
          </p:cNvCxnSpPr>
          <p:nvPr/>
        </p:nvCxnSpPr>
        <p:spPr>
          <a:xfrm flipH="1">
            <a:off x="8191500" y="2686050"/>
            <a:ext cx="57150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cxnSp>
        <p:nvCxnSpPr>
          <p:cNvPr id="50" name="Straight Arrow Connector 49"/>
          <p:cNvCxnSpPr>
            <a:stCxn id="18" idx="3"/>
            <a:endCxn id="19" idx="1"/>
          </p:cNvCxnSpPr>
          <p:nvPr/>
        </p:nvCxnSpPr>
        <p:spPr>
          <a:xfrm flipH="1">
            <a:off x="9906000" y="2686050"/>
            <a:ext cx="57150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sp>
        <p:nvSpPr>
          <p:cNvPr id="23" name="!!front-label">
            <a:extLst>
              <a:ext uri="{FF2B5EF4-FFF2-40B4-BE49-F238E27FC236}">
                <a16:creationId xmlns:a16="http://schemas.microsoft.com/office/drawing/2014/main" id="{9EC8B43E-10EB-4A94-822C-C840791BE0C2}"/>
              </a:ext>
            </a:extLst>
          </p:cNvPr>
          <p:cNvSpPr>
            <a:spLocks noGrp="1"/>
          </p:cNvSpPr>
          <p:nvPr/>
        </p:nvSpPr>
        <p:spPr>
          <a:xfrm>
            <a:off x="6381750" y="164782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</a:t>
            </a:r>
          </a:p>
        </p:txBody>
      </p:sp>
      <p:cxnSp>
        <p:nvCxnSpPr>
          <p:cNvPr id="52" name="Straight Arrow Connector 51"/>
          <p:cNvCxnSpPr>
            <a:stCxn id="23" idx="2"/>
            <a:endCxn id="15" idx="0"/>
          </p:cNvCxnSpPr>
          <p:nvPr/>
        </p:nvCxnSpPr>
        <p:spPr>
          <a:xfrm>
            <a:off x="6915150" y="1971675"/>
            <a:ext cx="76200" cy="361950"/>
          </a:xfrm>
          <a:prstGeom prst="straightConnector1">
            <a:avLst/>
          </a:prstGeom>
          <a:ln w="28575">
            <a:solidFill>
              <a:srgbClr val="2E9D65"/>
            </a:solidFill>
            <a:prstDash val="solid"/>
            <a:tailEnd type="arrow" w="med" len="med"/>
          </a:ln>
        </p:spPr>
      </p:cxnSp>
      <p:sp>
        <p:nvSpPr>
          <p:cNvPr id="25" name="!!rear-label">
            <a:extLst>
              <a:ext uri="{FF2B5EF4-FFF2-40B4-BE49-F238E27FC236}">
                <a16:creationId xmlns:a16="http://schemas.microsoft.com/office/drawing/2014/main" id="{CDC726FE-76D5-4F88-B235-6172541F5A36}"/>
              </a:ext>
            </a:extLst>
          </p:cNvPr>
          <p:cNvSpPr>
            <a:spLocks noGrp="1"/>
          </p:cNvSpPr>
          <p:nvPr/>
        </p:nvSpPr>
        <p:spPr>
          <a:xfrm>
            <a:off x="10572750" y="326707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</a:t>
            </a:r>
          </a:p>
        </p:txBody>
      </p:sp>
      <p:cxnSp>
        <p:nvCxnSpPr>
          <p:cNvPr id="54" name="Straight Arrow Connector 53"/>
          <p:cNvCxnSpPr>
            <a:stCxn id="25" idx="0"/>
            <a:endCxn id="19" idx="2"/>
          </p:cNvCxnSpPr>
          <p:nvPr/>
        </p:nvCxnSpPr>
        <p:spPr>
          <a:xfrm flipH="1" flipV="1">
            <a:off x="10420350" y="3038475"/>
            <a:ext cx="685800" cy="228600"/>
          </a:xfrm>
          <a:prstGeom prst="straightConnector1">
            <a:avLst/>
          </a:prstGeom>
          <a:ln w="28575">
            <a:solidFill>
              <a:srgbClr val="F28C28"/>
            </a:solidFill>
            <a:prstDash val="solid"/>
            <a:tailEnd type="arrow" w="med" len="med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8FEFF5B-81FD-478C-9C85-3DCEAB97BED6}"/>
              </a:ext>
            </a:extLst>
          </p:cNvPr>
          <p:cNvSpPr>
            <a:spLocks noGrp="1"/>
          </p:cNvSpPr>
          <p:nvPr/>
        </p:nvSpPr>
        <p:spPr>
          <a:xfrm>
            <a:off x="6477000" y="3855949"/>
            <a:ext cx="4857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/>
          </a:bodyPr>
          <a:lstStyle/>
          <a:p>
            <a:pPr algn="l">
              <a:lnSpc>
                <a:spcPct val="15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Creates one node only when an item arrives.</a:t>
            </a:r>
          </a:p>
          <a:p>
            <a:pPr algn="l">
              <a:lnSpc>
                <a:spcPct val="15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Capacity grows and shrinks during execution.</a:t>
            </a:r>
          </a:p>
          <a:p>
            <a:pPr algn="l">
              <a:lnSpc>
                <a:spcPct val="15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Still not unlimited: available memory is the limit.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EF508C-ECC3-49BF-9EE2-AE4762914365}"/>
              </a:ext>
            </a:extLst>
          </p:cNvPr>
          <p:cNvSpPr>
            <a:spLocks noGrp="1"/>
          </p:cNvSpPr>
          <p:nvPr/>
        </p:nvSpPr>
        <p:spPr>
          <a:xfrm>
            <a:off x="7560235" y="5284699"/>
            <a:ext cx="262497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8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2300" b="1" dirty="0">
                <a:solidFill>
                  <a:srgbClr val="F28C28"/>
                </a:solidFill>
                <a:highlight>
                  <a:srgbClr val="FFFF00"/>
                </a:highlight>
                <a:latin typeface="Aptos"/>
                <a:ea typeface="Aptos"/>
                <a:cs typeface="Aptos"/>
              </a:rPr>
              <a:t>Dynamic ≠ infinite</a:t>
            </a:r>
          </a:p>
        </p:txBody>
      </p:sp>
    </p:spTree>
    <p:extLst>
      <p:ext uri="{BB962C8B-B14F-4D97-AF65-F5344CB8AC3E}">
        <p14:creationId xmlns:p14="http://schemas.microsoft.com/office/powerpoint/2010/main" val="171359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A868293-0BE5-4929-A27A-3767543F2DB0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WHAT IS A LINKED LIST?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16AA43-0EF0-4CBA-829F-804650C1D06D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5745" lnSpcReduction="20000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linked list is </a:t>
            </a:r>
            <a:r>
              <a:rPr lang="en-US" sz="35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Dynamic </a:t>
            </a:r>
            <a:r>
              <a:rPr lang="en-US" sz="3525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Datastructure</a:t>
            </a:r>
            <a:r>
              <a:rPr lang="en-US" sz="35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made up of address-connected nodes</a:t>
            </a:r>
            <a:endParaRPr sz="3525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4A2D8F0-AB78-4FCE-878D-DD3022D0DD3A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6C515-E666-4997-9EC0-B69160B9164E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0E5997-0849-4E80-A751-0478927ADDC5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F06B6-84CE-41B4-A68E-EAADF7CFEEA7}"/>
              </a:ext>
            </a:extLst>
          </p:cNvPr>
          <p:cNvSpPr>
            <a:spLocks noGrp="1"/>
          </p:cNvSpPr>
          <p:nvPr/>
        </p:nvSpPr>
        <p:spPr>
          <a:xfrm>
            <a:off x="628650" y="13335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9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Every dynamically created node has two fields</a:t>
            </a:r>
          </a:p>
        </p:txBody>
      </p:sp>
      <p:sp>
        <p:nvSpPr>
          <p:cNvPr id="7" name="!!anatomy-data">
            <a:extLst>
              <a:ext uri="{FF2B5EF4-FFF2-40B4-BE49-F238E27FC236}">
                <a16:creationId xmlns:a16="http://schemas.microsoft.com/office/drawing/2014/main" id="{7C97C698-CF78-4C08-A528-43CD7DA6806E}"/>
              </a:ext>
            </a:extLst>
          </p:cNvPr>
          <p:cNvSpPr>
            <a:spLocks noGrp="1"/>
          </p:cNvSpPr>
          <p:nvPr/>
        </p:nvSpPr>
        <p:spPr>
          <a:xfrm>
            <a:off x="2190750" y="2286000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8" name="!!anatomy-next">
            <a:extLst>
              <a:ext uri="{FF2B5EF4-FFF2-40B4-BE49-F238E27FC236}">
                <a16:creationId xmlns:a16="http://schemas.microsoft.com/office/drawing/2014/main" id="{D92ECC31-CF2C-4FBF-B408-00737D41F1BC}"/>
              </a:ext>
            </a:extLst>
          </p:cNvPr>
          <p:cNvSpPr>
            <a:spLocks noGrp="1"/>
          </p:cNvSpPr>
          <p:nvPr/>
        </p:nvSpPr>
        <p:spPr>
          <a:xfrm>
            <a:off x="3219450" y="2286000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9312BC-D416-4BE2-A754-4B89E59530CB}"/>
              </a:ext>
            </a:extLst>
          </p:cNvPr>
          <p:cNvSpPr>
            <a:spLocks noGrp="1"/>
          </p:cNvSpPr>
          <p:nvPr/>
        </p:nvSpPr>
        <p:spPr>
          <a:xfrm>
            <a:off x="552450" y="3115049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stores the queue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4BB294-E638-45B7-BE67-C23175A7BEF0}"/>
              </a:ext>
            </a:extLst>
          </p:cNvPr>
          <p:cNvSpPr>
            <a:spLocks noGrp="1"/>
          </p:cNvSpPr>
          <p:nvPr/>
        </p:nvSpPr>
        <p:spPr>
          <a:xfrm>
            <a:off x="3429000" y="3114301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stores the address of the next node</a:t>
            </a:r>
          </a:p>
        </p:txBody>
      </p:sp>
      <p:sp>
        <p:nvSpPr>
          <p:cNvPr id="11" name="!!ll-10-data">
            <a:extLst>
              <a:ext uri="{FF2B5EF4-FFF2-40B4-BE49-F238E27FC236}">
                <a16:creationId xmlns:a16="http://schemas.microsoft.com/office/drawing/2014/main" id="{4A5D854B-D099-45D4-8412-6E1397C44305}"/>
              </a:ext>
            </a:extLst>
          </p:cNvPr>
          <p:cNvSpPr>
            <a:spLocks noGrp="1"/>
          </p:cNvSpPr>
          <p:nvPr/>
        </p:nvSpPr>
        <p:spPr>
          <a:xfrm>
            <a:off x="6858000" y="204787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" name="!!ll-10-next">
            <a:extLst>
              <a:ext uri="{FF2B5EF4-FFF2-40B4-BE49-F238E27FC236}">
                <a16:creationId xmlns:a16="http://schemas.microsoft.com/office/drawing/2014/main" id="{6651F917-849E-4E51-A129-C715F05E0DCD}"/>
              </a:ext>
            </a:extLst>
          </p:cNvPr>
          <p:cNvSpPr>
            <a:spLocks noGrp="1"/>
          </p:cNvSpPr>
          <p:nvPr/>
        </p:nvSpPr>
        <p:spPr>
          <a:xfrm>
            <a:off x="7886700" y="204787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!!ll-20-data">
            <a:extLst>
              <a:ext uri="{FF2B5EF4-FFF2-40B4-BE49-F238E27FC236}">
                <a16:creationId xmlns:a16="http://schemas.microsoft.com/office/drawing/2014/main" id="{42EA2D30-C2DA-4CD5-8277-EDC6AAE382E9}"/>
              </a:ext>
            </a:extLst>
          </p:cNvPr>
          <p:cNvSpPr>
            <a:spLocks noGrp="1"/>
          </p:cNvSpPr>
          <p:nvPr/>
        </p:nvSpPr>
        <p:spPr>
          <a:xfrm>
            <a:off x="9001125" y="204787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4" name="!!ll-20-next">
            <a:extLst>
              <a:ext uri="{FF2B5EF4-FFF2-40B4-BE49-F238E27FC236}">
                <a16:creationId xmlns:a16="http://schemas.microsoft.com/office/drawing/2014/main" id="{72E634E0-FAA2-4B77-BA6A-3E5873F4C513}"/>
              </a:ext>
            </a:extLst>
          </p:cNvPr>
          <p:cNvSpPr>
            <a:spLocks noGrp="1"/>
          </p:cNvSpPr>
          <p:nvPr/>
        </p:nvSpPr>
        <p:spPr>
          <a:xfrm>
            <a:off x="10029825" y="204787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33" name="Straight Arrow Connector 32"/>
          <p:cNvCxnSpPr>
            <a:stCxn id="12" idx="3"/>
            <a:endCxn id="13" idx="1"/>
          </p:cNvCxnSpPr>
          <p:nvPr/>
        </p:nvCxnSpPr>
        <p:spPr>
          <a:xfrm>
            <a:off x="8629650" y="2400300"/>
            <a:ext cx="371475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2FAA235-D4C4-4B9B-87F1-080F2C3E6291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NULL means: there is no next node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460D69C-33FE-417E-B978-10B76F0C2ED4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10287000" cy="139065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710878-FC26-4706-8DB7-ADCB2558DA92}"/>
              </a:ext>
            </a:extLst>
          </p:cNvPr>
          <p:cNvSpPr>
            <a:spLocks noGrp="1"/>
          </p:cNvSpPr>
          <p:nvPr/>
        </p:nvSpPr>
        <p:spPr>
          <a:xfrm>
            <a:off x="1143000" y="4514849"/>
            <a:ext cx="9715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 fontScale="92500" lnSpcReduction="20000"/>
          </a:bodyPr>
          <a:lstStyle/>
          <a:p>
            <a:pPr algn="l">
              <a:lnSpc>
                <a:spcPct val="16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Nodes are obtained at run time using malloc().</a:t>
            </a:r>
          </a:p>
          <a:p>
            <a:pPr algn="l">
              <a:lnSpc>
                <a:spcPct val="16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The nodes do not need to occupy adjacent memory locations.</a:t>
            </a:r>
          </a:p>
          <a:p>
            <a:pPr algn="l">
              <a:lnSpc>
                <a:spcPct val="16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The address stored in Next creates the logical order.</a:t>
            </a:r>
          </a:p>
        </p:txBody>
      </p:sp>
    </p:spTree>
    <p:extLst>
      <p:ext uri="{BB962C8B-B14F-4D97-AF65-F5344CB8AC3E}">
        <p14:creationId xmlns:p14="http://schemas.microsoft.com/office/powerpoint/2010/main" val="98203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AF41353-65C7-4EEA-A4C0-47CC06DD0F4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QUEUE REPRESENTATION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1D8966-D660-4878-8355-7A2EBF4B1DCC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758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Two external pointers make both ends directly reachable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A88D33E-ED91-46D0-AE6A-B81A3F1DF1CD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54BEE-EB5E-49E6-B3B5-EAFE5E1D727F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FAFC89-98ED-4015-A971-17A53DEA2AF7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!!node-10-data">
            <a:extLst>
              <a:ext uri="{FF2B5EF4-FFF2-40B4-BE49-F238E27FC236}">
                <a16:creationId xmlns:a16="http://schemas.microsoft.com/office/drawing/2014/main" id="{2437CBC8-A72C-4E8A-9BD7-A7F641AFDAEF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!!node-10-next">
            <a:extLst>
              <a:ext uri="{FF2B5EF4-FFF2-40B4-BE49-F238E27FC236}">
                <a16:creationId xmlns:a16="http://schemas.microsoft.com/office/drawing/2014/main" id="{00BD45B0-033C-45BD-B28F-D293C9BFE755}"/>
              </a:ext>
            </a:extLst>
          </p:cNvPr>
          <p:cNvSpPr>
            <a:spLocks noGrp="1"/>
          </p:cNvSpPr>
          <p:nvPr/>
        </p:nvSpPr>
        <p:spPr>
          <a:xfrm>
            <a:off x="3409950" y="2476500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!!node-20-data">
            <a:extLst>
              <a:ext uri="{FF2B5EF4-FFF2-40B4-BE49-F238E27FC236}">
                <a16:creationId xmlns:a16="http://schemas.microsoft.com/office/drawing/2014/main" id="{A8ED4E70-F459-4D57-8654-0F1ACBC69831}"/>
              </a:ext>
            </a:extLst>
          </p:cNvPr>
          <p:cNvSpPr>
            <a:spLocks noGrp="1"/>
          </p:cNvSpPr>
          <p:nvPr/>
        </p:nvSpPr>
        <p:spPr>
          <a:xfrm>
            <a:off x="4714875" y="2476500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9" name="!!node-20-next">
            <a:extLst>
              <a:ext uri="{FF2B5EF4-FFF2-40B4-BE49-F238E27FC236}">
                <a16:creationId xmlns:a16="http://schemas.microsoft.com/office/drawing/2014/main" id="{2D47B0DD-2E4E-487F-AE7E-25AA04113E00}"/>
              </a:ext>
            </a:extLst>
          </p:cNvPr>
          <p:cNvSpPr>
            <a:spLocks noGrp="1"/>
          </p:cNvSpPr>
          <p:nvPr/>
        </p:nvSpPr>
        <p:spPr>
          <a:xfrm>
            <a:off x="5743575" y="2476500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!!node-30-data">
            <a:extLst>
              <a:ext uri="{FF2B5EF4-FFF2-40B4-BE49-F238E27FC236}">
                <a16:creationId xmlns:a16="http://schemas.microsoft.com/office/drawing/2014/main" id="{EF4CB748-7D97-46F4-A71F-DEFECC7B15BD}"/>
              </a:ext>
            </a:extLst>
          </p:cNvPr>
          <p:cNvSpPr>
            <a:spLocks noGrp="1"/>
          </p:cNvSpPr>
          <p:nvPr/>
        </p:nvSpPr>
        <p:spPr>
          <a:xfrm>
            <a:off x="7048500" y="2476500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1" name="!!node-30-next">
            <a:extLst>
              <a:ext uri="{FF2B5EF4-FFF2-40B4-BE49-F238E27FC236}">
                <a16:creationId xmlns:a16="http://schemas.microsoft.com/office/drawing/2014/main" id="{66F0DC43-8CAE-43D5-B709-986B7F0853C9}"/>
              </a:ext>
            </a:extLst>
          </p:cNvPr>
          <p:cNvSpPr>
            <a:spLocks noGrp="1"/>
          </p:cNvSpPr>
          <p:nvPr/>
        </p:nvSpPr>
        <p:spPr>
          <a:xfrm>
            <a:off x="8077200" y="2476500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32" name="Straight Arrow Connector 31"/>
          <p:cNvCxnSpPr>
            <a:stCxn id="7" idx="3"/>
            <a:endCxn id="8" idx="1"/>
          </p:cNvCxnSpPr>
          <p:nvPr/>
        </p:nvCxnSpPr>
        <p:spPr>
          <a:xfrm>
            <a:off x="4152900" y="2828925"/>
            <a:ext cx="561975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cxnSp>
        <p:nvCxnSpPr>
          <p:cNvPr id="33" name="Straight Arrow Connector 32"/>
          <p:cNvCxnSpPr>
            <a:stCxn id="9" idx="3"/>
            <a:endCxn id="10" idx="1"/>
          </p:cNvCxnSpPr>
          <p:nvPr/>
        </p:nvCxnSpPr>
        <p:spPr>
          <a:xfrm>
            <a:off x="6486525" y="2828925"/>
            <a:ext cx="561975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sp>
        <p:nvSpPr>
          <p:cNvPr id="14" name="!!front-label">
            <a:extLst>
              <a:ext uri="{FF2B5EF4-FFF2-40B4-BE49-F238E27FC236}">
                <a16:creationId xmlns:a16="http://schemas.microsoft.com/office/drawing/2014/main" id="{FBA831A7-37F5-4615-A67B-DA97AD135A77}"/>
              </a:ext>
            </a:extLst>
          </p:cNvPr>
          <p:cNvSpPr>
            <a:spLocks noGrp="1"/>
          </p:cNvSpPr>
          <p:nvPr/>
        </p:nvSpPr>
        <p:spPr>
          <a:xfrm>
            <a:off x="2286000" y="179070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</a:t>
            </a:r>
          </a:p>
        </p:txBody>
      </p:sp>
      <p:cxnSp>
        <p:nvCxnSpPr>
          <p:cNvPr id="35" name="Straight Arrow Connector 34"/>
          <p:cNvCxnSpPr>
            <a:stCxn id="14" idx="2"/>
            <a:endCxn id="6" idx="0"/>
          </p:cNvCxnSpPr>
          <p:nvPr/>
        </p:nvCxnSpPr>
        <p:spPr>
          <a:xfrm>
            <a:off x="2819400" y="2114550"/>
            <a:ext cx="76200" cy="361950"/>
          </a:xfrm>
          <a:prstGeom prst="straightConnector1">
            <a:avLst/>
          </a:prstGeom>
          <a:ln w="28575">
            <a:solidFill>
              <a:srgbClr val="2E9D65"/>
            </a:solidFill>
            <a:prstDash val="solid"/>
            <a:tailEnd type="arrow" w="med" len="med"/>
          </a:ln>
        </p:spPr>
      </p:cxnSp>
      <p:sp>
        <p:nvSpPr>
          <p:cNvPr id="16" name="!!rear-label">
            <a:extLst>
              <a:ext uri="{FF2B5EF4-FFF2-40B4-BE49-F238E27FC236}">
                <a16:creationId xmlns:a16="http://schemas.microsoft.com/office/drawing/2014/main" id="{0263BE8D-F3C8-4410-BC61-0E6DB26DFCDA}"/>
              </a:ext>
            </a:extLst>
          </p:cNvPr>
          <p:cNvSpPr>
            <a:spLocks noGrp="1"/>
          </p:cNvSpPr>
          <p:nvPr/>
        </p:nvSpPr>
        <p:spPr>
          <a:xfrm>
            <a:off x="7715250" y="340995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</a:t>
            </a:r>
          </a:p>
        </p:txBody>
      </p:sp>
      <p:cxnSp>
        <p:nvCxnSpPr>
          <p:cNvPr id="37" name="Straight Arrow Connector 36"/>
          <p:cNvCxnSpPr>
            <a:stCxn id="16" idx="0"/>
            <a:endCxn id="10" idx="2"/>
          </p:cNvCxnSpPr>
          <p:nvPr/>
        </p:nvCxnSpPr>
        <p:spPr>
          <a:xfrm flipH="1" flipV="1">
            <a:off x="7562850" y="3181350"/>
            <a:ext cx="685800" cy="228600"/>
          </a:xfrm>
          <a:prstGeom prst="straightConnector1">
            <a:avLst/>
          </a:prstGeom>
          <a:ln w="28575">
            <a:solidFill>
              <a:srgbClr val="F28C28"/>
            </a:solidFill>
            <a:prstDash val="solid"/>
            <a:tailEnd type="arrow" w="med" len="me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369B0-ED86-4244-BF6F-7350DF4E285C}"/>
              </a:ext>
            </a:extLst>
          </p:cNvPr>
          <p:cNvSpPr>
            <a:spLocks noGrp="1"/>
          </p:cNvSpPr>
          <p:nvPr/>
        </p:nvSpPr>
        <p:spPr>
          <a:xfrm>
            <a:off x="629024" y="1390651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2E9D65"/>
                </a:solidFill>
                <a:latin typeface="Aptos"/>
                <a:ea typeface="Aptos"/>
                <a:cs typeface="Aptos"/>
              </a:rPr>
              <a:t>Front → oldest node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F07FAE-73E6-41D4-8628-F1963990CBB6}"/>
              </a:ext>
            </a:extLst>
          </p:cNvPr>
          <p:cNvSpPr>
            <a:spLocks noGrp="1"/>
          </p:cNvSpPr>
          <p:nvPr/>
        </p:nvSpPr>
        <p:spPr>
          <a:xfrm>
            <a:off x="8448675" y="381952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F28C28"/>
                </a:solidFill>
                <a:latin typeface="Aptos"/>
                <a:ea typeface="Aptos"/>
                <a:cs typeface="Aptos"/>
              </a:rPr>
              <a:t>Rear → newest node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BC63F5-0FB8-4521-934F-666A1687F9A1}"/>
              </a:ext>
            </a:extLst>
          </p:cNvPr>
          <p:cNvSpPr>
            <a:spLocks noGrp="1"/>
          </p:cNvSpPr>
          <p:nvPr/>
        </p:nvSpPr>
        <p:spPr>
          <a:xfrm>
            <a:off x="791509" y="428625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Autofit/>
          </a:bodyPr>
          <a:lstStyle/>
          <a:p>
            <a:pPr algn="l">
              <a:lnSpc>
                <a:spcPct val="150000"/>
              </a:lnSpc>
              <a:defRPr sz="146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Front points to the node that must leave next.</a:t>
            </a:r>
          </a:p>
          <a:p>
            <a:pPr algn="l">
              <a:lnSpc>
                <a:spcPct val="150000"/>
              </a:lnSpc>
              <a:defRPr sz="146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Rear points to the most recently inserted node.</a:t>
            </a:r>
          </a:p>
          <a:p>
            <a:pPr algn="l">
              <a:lnSpc>
                <a:spcPct val="150000"/>
              </a:lnSpc>
              <a:defRPr sz="146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Rear-&gt;next is always NULL.</a:t>
            </a:r>
          </a:p>
          <a:p>
            <a:pPr algn="l">
              <a:lnSpc>
                <a:spcPct val="150000"/>
              </a:lnSpc>
              <a:defRPr sz="146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Insertion order is preserved from Front to Rear.</a:t>
            </a:r>
          </a:p>
          <a:p>
            <a:pPr algn="l">
              <a:lnSpc>
                <a:spcPct val="150000"/>
              </a:lnSpc>
              <a:defRPr sz="146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Rear removes the need to traverse before Enqueue.</a:t>
            </a:r>
          </a:p>
        </p:txBody>
      </p:sp>
    </p:spTree>
    <p:extLst>
      <p:ext uri="{BB962C8B-B14F-4D97-AF65-F5344CB8AC3E}">
        <p14:creationId xmlns:p14="http://schemas.microsoft.com/office/powerpoint/2010/main" val="201150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A6F55B8-A8DB-4FFE-B373-CB6CE5033A4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EMPTY AND SINGLE-NODE 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43958-5800-453B-971E-08FD175BB490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722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Empty and one-node queues have special pointer states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0FF586A-80D2-4EEE-B1A0-0256451CF0B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BEFD0-9E2C-49AC-A38F-97470E69C4CC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A41EF-9542-4DF7-BCB7-CC43D99AB14E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583B9D-1700-49D5-823E-77260F80A281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5191125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EE31D4-5003-461D-97B7-B86F3771A998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5476875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050C52-0374-4B3F-8144-00CAC6177D7D}"/>
              </a:ext>
            </a:extLst>
          </p:cNvPr>
          <p:cNvSpPr>
            <a:spLocks noGrp="1"/>
          </p:cNvSpPr>
          <p:nvPr/>
        </p:nvSpPr>
        <p:spPr>
          <a:xfrm>
            <a:off x="904875" y="1714500"/>
            <a:ext cx="461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9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EMPTY QUEUE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BBF3EA-8876-47C2-B8F6-85D95891CD00}"/>
              </a:ext>
            </a:extLst>
          </p:cNvPr>
          <p:cNvSpPr>
            <a:spLocks noGrp="1"/>
          </p:cNvSpPr>
          <p:nvPr/>
        </p:nvSpPr>
        <p:spPr>
          <a:xfrm>
            <a:off x="1571625" y="26670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8DA12F-74F1-4CC9-8E0D-3C4FDEA6F99D}"/>
              </a:ext>
            </a:extLst>
          </p:cNvPr>
          <p:cNvSpPr>
            <a:spLocks noGrp="1"/>
          </p:cNvSpPr>
          <p:nvPr/>
        </p:nvSpPr>
        <p:spPr>
          <a:xfrm>
            <a:off x="2905125" y="2657475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75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= NULL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0723D4-7BAA-4039-A614-B0296E32B59B}"/>
              </a:ext>
            </a:extLst>
          </p:cNvPr>
          <p:cNvSpPr>
            <a:spLocks noGrp="1"/>
          </p:cNvSpPr>
          <p:nvPr/>
        </p:nvSpPr>
        <p:spPr>
          <a:xfrm>
            <a:off x="1571625" y="333375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CFD5F-CE7A-4DBF-A8FD-A0D758A34F58}"/>
              </a:ext>
            </a:extLst>
          </p:cNvPr>
          <p:cNvSpPr>
            <a:spLocks noGrp="1"/>
          </p:cNvSpPr>
          <p:nvPr/>
        </p:nvSpPr>
        <p:spPr>
          <a:xfrm>
            <a:off x="2905125" y="3324225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= NULL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528DAF-3ACE-4A6C-99DC-341E37937D76}"/>
              </a:ext>
            </a:extLst>
          </p:cNvPr>
          <p:cNvSpPr>
            <a:spLocks noGrp="1"/>
          </p:cNvSpPr>
          <p:nvPr/>
        </p:nvSpPr>
        <p:spPr>
          <a:xfrm>
            <a:off x="1000125" y="4191000"/>
            <a:ext cx="4429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No node exists, so both Front and Rear are NULL.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31FDC5-ECBC-4C09-9290-6DF48948C4D6}"/>
              </a:ext>
            </a:extLst>
          </p:cNvPr>
          <p:cNvSpPr>
            <a:spLocks noGrp="1"/>
          </p:cNvSpPr>
          <p:nvPr/>
        </p:nvSpPr>
        <p:spPr>
          <a:xfrm>
            <a:off x="6429375" y="1714500"/>
            <a:ext cx="4810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9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SINGLE-NODE QUEUE</a:t>
            </a:r>
          </a:p>
        </p:txBody>
      </p:sp>
      <p:sp>
        <p:nvSpPr>
          <p:cNvPr id="15" name="!!single-10-data">
            <a:extLst>
              <a:ext uri="{FF2B5EF4-FFF2-40B4-BE49-F238E27FC236}">
                <a16:creationId xmlns:a16="http://schemas.microsoft.com/office/drawing/2014/main" id="{8BCB60B9-B97D-407D-BF7D-7B8B34ECE54F}"/>
              </a:ext>
            </a:extLst>
          </p:cNvPr>
          <p:cNvSpPr>
            <a:spLocks noGrp="1"/>
          </p:cNvSpPr>
          <p:nvPr/>
        </p:nvSpPr>
        <p:spPr>
          <a:xfrm>
            <a:off x="7953375" y="290512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6" name="!!single-10-next">
            <a:extLst>
              <a:ext uri="{FF2B5EF4-FFF2-40B4-BE49-F238E27FC236}">
                <a16:creationId xmlns:a16="http://schemas.microsoft.com/office/drawing/2014/main" id="{B47022B5-D794-4D38-B61C-0FB495123B8A}"/>
              </a:ext>
            </a:extLst>
          </p:cNvPr>
          <p:cNvSpPr>
            <a:spLocks noGrp="1"/>
          </p:cNvSpPr>
          <p:nvPr/>
        </p:nvSpPr>
        <p:spPr>
          <a:xfrm>
            <a:off x="8982075" y="290512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8F0093-EA73-44AC-ADE7-3D02DFC42C8A}"/>
              </a:ext>
            </a:extLst>
          </p:cNvPr>
          <p:cNvSpPr>
            <a:spLocks noGrp="1"/>
          </p:cNvSpPr>
          <p:nvPr/>
        </p:nvSpPr>
        <p:spPr>
          <a:xfrm>
            <a:off x="8267700" y="235267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 ↓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C52991-D6B7-4B3D-A57A-628205DE3CB3}"/>
              </a:ext>
            </a:extLst>
          </p:cNvPr>
          <p:cNvSpPr>
            <a:spLocks noGrp="1"/>
          </p:cNvSpPr>
          <p:nvPr/>
        </p:nvSpPr>
        <p:spPr>
          <a:xfrm>
            <a:off x="8267700" y="3781425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 ↑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F70804-2BFA-42A0-A7CD-F6155FD0DA77}"/>
              </a:ext>
            </a:extLst>
          </p:cNvPr>
          <p:cNvSpPr>
            <a:spLocks noGrp="1"/>
          </p:cNvSpPr>
          <p:nvPr/>
        </p:nvSpPr>
        <p:spPr>
          <a:xfrm>
            <a:off x="6667500" y="4810125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Front and Rear point to the same node.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072DC4-6F90-4C5F-B10C-D1F29C99023D}"/>
              </a:ext>
            </a:extLst>
          </p:cNvPr>
          <p:cNvSpPr>
            <a:spLocks noGrp="1"/>
          </p:cNvSpPr>
          <p:nvPr/>
        </p:nvSpPr>
        <p:spPr>
          <a:xfrm>
            <a:off x="2609850" y="5886450"/>
            <a:ext cx="685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00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Queue is empty ⇔ Front = NULL and Rear = NULL</a:t>
            </a:r>
          </a:p>
        </p:txBody>
      </p:sp>
    </p:spTree>
    <p:extLst>
      <p:ext uri="{BB962C8B-B14F-4D97-AF65-F5344CB8AC3E}">
        <p14:creationId xmlns:p14="http://schemas.microsoft.com/office/powerpoint/2010/main" val="131373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58E52F-1B11-4A5E-88A5-9683F5E4ED0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ENQUEUE DRY RUN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D32103-0C52-40AD-A7FC-F21DAA1EEDB5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356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Three insertions build the queue without changing Front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9ABFB11-5A63-472A-B071-A35DA0CEE172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74D661-D098-4672-B740-2F103D76D1B0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0C72E-0849-4791-BCE1-D79830C6E318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AD36AA-2793-40B7-A5C1-9BDC7DDECD83}"/>
              </a:ext>
            </a:extLst>
          </p:cNvPr>
          <p:cNvSpPr>
            <a:spLocks noGrp="1"/>
          </p:cNvSpPr>
          <p:nvPr/>
        </p:nvSpPr>
        <p:spPr>
          <a:xfrm>
            <a:off x="666750" y="1647825"/>
            <a:ext cx="457200" cy="45720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A2AFCD-3180-48E4-9FD6-1B87F00C36FD}"/>
              </a:ext>
            </a:extLst>
          </p:cNvPr>
          <p:cNvSpPr>
            <a:spLocks noGrp="1"/>
          </p:cNvSpPr>
          <p:nvPr/>
        </p:nvSpPr>
        <p:spPr>
          <a:xfrm>
            <a:off x="1314450" y="152400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Insert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FF913-0019-407B-997E-B90C4569FA2A}"/>
              </a:ext>
            </a:extLst>
          </p:cNvPr>
          <p:cNvSpPr>
            <a:spLocks noGrp="1"/>
          </p:cNvSpPr>
          <p:nvPr/>
        </p:nvSpPr>
        <p:spPr>
          <a:xfrm>
            <a:off x="1314450" y="192405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Empty queue: create 10 and set Front = Rear = 10</a:t>
            </a:r>
          </a:p>
        </p:txBody>
      </p:sp>
      <p:sp>
        <p:nvSpPr>
          <p:cNvPr id="9" name="!!enq-row-0-10-0-data">
            <a:extLst>
              <a:ext uri="{FF2B5EF4-FFF2-40B4-BE49-F238E27FC236}">
                <a16:creationId xmlns:a16="http://schemas.microsoft.com/office/drawing/2014/main" id="{B59BC320-5AAC-4511-9ED8-F640D4189896}"/>
              </a:ext>
            </a:extLst>
          </p:cNvPr>
          <p:cNvSpPr>
            <a:spLocks noGrp="1"/>
          </p:cNvSpPr>
          <p:nvPr/>
        </p:nvSpPr>
        <p:spPr>
          <a:xfrm>
            <a:off x="5429250" y="179070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!!enq-row-0-10-0-next">
            <a:extLst>
              <a:ext uri="{FF2B5EF4-FFF2-40B4-BE49-F238E27FC236}">
                <a16:creationId xmlns:a16="http://schemas.microsoft.com/office/drawing/2014/main" id="{E7855E2A-B7E5-4DA9-8008-4A02892AEE12}"/>
              </a:ext>
            </a:extLst>
          </p:cNvPr>
          <p:cNvSpPr>
            <a:spLocks noGrp="1"/>
          </p:cNvSpPr>
          <p:nvPr/>
        </p:nvSpPr>
        <p:spPr>
          <a:xfrm>
            <a:off x="6019800" y="179070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873B9F-A48C-485F-AC1A-C2418B5EFBE5}"/>
              </a:ext>
            </a:extLst>
          </p:cNvPr>
          <p:cNvSpPr>
            <a:spLocks noGrp="1"/>
          </p:cNvSpPr>
          <p:nvPr/>
        </p:nvSpPr>
        <p:spPr>
          <a:xfrm>
            <a:off x="5391150" y="14859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Front ↓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45275D-F404-410E-A7CD-5DC86F49A4E8}"/>
              </a:ext>
            </a:extLst>
          </p:cNvPr>
          <p:cNvSpPr>
            <a:spLocks noGrp="1"/>
          </p:cNvSpPr>
          <p:nvPr/>
        </p:nvSpPr>
        <p:spPr>
          <a:xfrm>
            <a:off x="5400675" y="2266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Rear ↑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E3DED61-FFE4-4A75-A01D-AEED101CBE0D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10810875" cy="0"/>
          </a:xfrm>
          <a:prstGeom prst="line">
            <a:avLst/>
          </a:prstGeom>
          <a:noFill/>
          <a:ln w="9525">
            <a:solidFill>
              <a:srgbClr val="C8D4E3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BFBD35-BBB3-48F1-9FF4-15F427D26A6D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457200" cy="45720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9FEC55-B05F-47C7-9B81-A05313811015}"/>
              </a:ext>
            </a:extLst>
          </p:cNvPr>
          <p:cNvSpPr>
            <a:spLocks noGrp="1"/>
          </p:cNvSpPr>
          <p:nvPr/>
        </p:nvSpPr>
        <p:spPr>
          <a:xfrm>
            <a:off x="1314450" y="3095625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Insert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27678-3B65-4F42-9357-622F5ED5DE6B}"/>
              </a:ext>
            </a:extLst>
          </p:cNvPr>
          <p:cNvSpPr>
            <a:spLocks noGrp="1"/>
          </p:cNvSpPr>
          <p:nvPr/>
        </p:nvSpPr>
        <p:spPr>
          <a:xfrm>
            <a:off x="1314450" y="34956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Link 10 to 20, then move Rear to 20</a:t>
            </a:r>
          </a:p>
        </p:txBody>
      </p:sp>
      <p:sp>
        <p:nvSpPr>
          <p:cNvPr id="17" name="!!enq-row-1-10-0-data">
            <a:extLst>
              <a:ext uri="{FF2B5EF4-FFF2-40B4-BE49-F238E27FC236}">
                <a16:creationId xmlns:a16="http://schemas.microsoft.com/office/drawing/2014/main" id="{AC158080-65DF-417B-B810-692E970A5A4D}"/>
              </a:ext>
            </a:extLst>
          </p:cNvPr>
          <p:cNvSpPr>
            <a:spLocks noGrp="1"/>
          </p:cNvSpPr>
          <p:nvPr/>
        </p:nvSpPr>
        <p:spPr>
          <a:xfrm>
            <a:off x="5429250" y="3362325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!!enq-row-1-10-0-next">
            <a:extLst>
              <a:ext uri="{FF2B5EF4-FFF2-40B4-BE49-F238E27FC236}">
                <a16:creationId xmlns:a16="http://schemas.microsoft.com/office/drawing/2014/main" id="{E5CB6132-56F6-4A02-9B3A-6C1B4476C1F5}"/>
              </a:ext>
            </a:extLst>
          </p:cNvPr>
          <p:cNvSpPr>
            <a:spLocks noGrp="1"/>
          </p:cNvSpPr>
          <p:nvPr/>
        </p:nvSpPr>
        <p:spPr>
          <a:xfrm>
            <a:off x="6019800" y="3362325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!!enq-row-1-20-1-data">
            <a:extLst>
              <a:ext uri="{FF2B5EF4-FFF2-40B4-BE49-F238E27FC236}">
                <a16:creationId xmlns:a16="http://schemas.microsoft.com/office/drawing/2014/main" id="{F7B5078A-A97E-4C26-8D09-1B342E19C1BB}"/>
              </a:ext>
            </a:extLst>
          </p:cNvPr>
          <p:cNvSpPr>
            <a:spLocks noGrp="1"/>
          </p:cNvSpPr>
          <p:nvPr/>
        </p:nvSpPr>
        <p:spPr>
          <a:xfrm>
            <a:off x="6905625" y="3362325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0" name="!!enq-row-1-20-1-next">
            <a:extLst>
              <a:ext uri="{FF2B5EF4-FFF2-40B4-BE49-F238E27FC236}">
                <a16:creationId xmlns:a16="http://schemas.microsoft.com/office/drawing/2014/main" id="{6BA26ACC-3094-4F43-93E8-46CB280DDFFA}"/>
              </a:ext>
            </a:extLst>
          </p:cNvPr>
          <p:cNvSpPr>
            <a:spLocks noGrp="1"/>
          </p:cNvSpPr>
          <p:nvPr/>
        </p:nvSpPr>
        <p:spPr>
          <a:xfrm>
            <a:off x="7496175" y="3362325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59" name="Straight Arrow Connector 58"/>
          <p:cNvCxnSpPr>
            <a:stCxn id="18" idx="3"/>
            <a:endCxn id="19" idx="1"/>
          </p:cNvCxnSpPr>
          <p:nvPr/>
        </p:nvCxnSpPr>
        <p:spPr>
          <a:xfrm>
            <a:off x="6419850" y="3571875"/>
            <a:ext cx="485775" cy="0"/>
          </a:xfrm>
          <a:prstGeom prst="straightConnector1">
            <a:avLst/>
          </a:prstGeom>
          <a:ln w="23813">
            <a:solidFill>
              <a:srgbClr val="102A43"/>
            </a:solidFill>
            <a:prstDash val="solid"/>
            <a:tailEnd type="arrow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800DD14-E3FA-437D-B3BA-D7BB0A7B6CFD}"/>
              </a:ext>
            </a:extLst>
          </p:cNvPr>
          <p:cNvSpPr>
            <a:spLocks noGrp="1"/>
          </p:cNvSpPr>
          <p:nvPr/>
        </p:nvSpPr>
        <p:spPr>
          <a:xfrm>
            <a:off x="5391150" y="3057525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Front ↓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C5084E-E234-42E4-A99A-EE8555DCC430}"/>
              </a:ext>
            </a:extLst>
          </p:cNvPr>
          <p:cNvSpPr>
            <a:spLocks noGrp="1"/>
          </p:cNvSpPr>
          <p:nvPr/>
        </p:nvSpPr>
        <p:spPr>
          <a:xfrm>
            <a:off x="6877050" y="3838575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Rear ↑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77B514B7-8784-4DC2-9105-9214695F713D}"/>
              </a:ext>
            </a:extLst>
          </p:cNvPr>
          <p:cNvSpPr>
            <a:spLocks noGrp="1"/>
          </p:cNvSpPr>
          <p:nvPr/>
        </p:nvSpPr>
        <p:spPr>
          <a:xfrm>
            <a:off x="666750" y="4410075"/>
            <a:ext cx="10810875" cy="0"/>
          </a:xfrm>
          <a:prstGeom prst="line">
            <a:avLst/>
          </a:prstGeom>
          <a:noFill/>
          <a:ln w="9525">
            <a:solidFill>
              <a:srgbClr val="C8D4E3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C5E75C5-029A-460F-9049-61F632314FA5}"/>
              </a:ext>
            </a:extLst>
          </p:cNvPr>
          <p:cNvSpPr>
            <a:spLocks noGrp="1"/>
          </p:cNvSpPr>
          <p:nvPr/>
        </p:nvSpPr>
        <p:spPr>
          <a:xfrm>
            <a:off x="666750" y="4791075"/>
            <a:ext cx="457200" cy="45720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D4320E-A317-4B46-8D59-888A8679826C}"/>
              </a:ext>
            </a:extLst>
          </p:cNvPr>
          <p:cNvSpPr>
            <a:spLocks noGrp="1"/>
          </p:cNvSpPr>
          <p:nvPr/>
        </p:nvSpPr>
        <p:spPr>
          <a:xfrm>
            <a:off x="1314450" y="46672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Insert 30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081CD8-EE69-4302-9F27-46AF90AA1401}"/>
              </a:ext>
            </a:extLst>
          </p:cNvPr>
          <p:cNvSpPr>
            <a:spLocks noGrp="1"/>
          </p:cNvSpPr>
          <p:nvPr/>
        </p:nvSpPr>
        <p:spPr>
          <a:xfrm>
            <a:off x="1314450" y="506730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Link 20 to 30, then move Rear to 30</a:t>
            </a:r>
          </a:p>
        </p:txBody>
      </p:sp>
      <p:sp>
        <p:nvSpPr>
          <p:cNvPr id="28" name="!!enq-row-2-10-0-data">
            <a:extLst>
              <a:ext uri="{FF2B5EF4-FFF2-40B4-BE49-F238E27FC236}">
                <a16:creationId xmlns:a16="http://schemas.microsoft.com/office/drawing/2014/main" id="{76876540-30BF-4417-AA30-EDC242AB22BC}"/>
              </a:ext>
            </a:extLst>
          </p:cNvPr>
          <p:cNvSpPr>
            <a:spLocks noGrp="1"/>
          </p:cNvSpPr>
          <p:nvPr/>
        </p:nvSpPr>
        <p:spPr>
          <a:xfrm>
            <a:off x="5429250" y="493395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9" name="!!enq-row-2-10-0-next">
            <a:extLst>
              <a:ext uri="{FF2B5EF4-FFF2-40B4-BE49-F238E27FC236}">
                <a16:creationId xmlns:a16="http://schemas.microsoft.com/office/drawing/2014/main" id="{64CA0F08-C30A-4B30-97E9-387A59214736}"/>
              </a:ext>
            </a:extLst>
          </p:cNvPr>
          <p:cNvSpPr>
            <a:spLocks noGrp="1"/>
          </p:cNvSpPr>
          <p:nvPr/>
        </p:nvSpPr>
        <p:spPr>
          <a:xfrm>
            <a:off x="6019800" y="493395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!!enq-row-2-20-1-data">
            <a:extLst>
              <a:ext uri="{FF2B5EF4-FFF2-40B4-BE49-F238E27FC236}">
                <a16:creationId xmlns:a16="http://schemas.microsoft.com/office/drawing/2014/main" id="{CEA7C32A-953D-4690-BD55-5EB77A640F78}"/>
              </a:ext>
            </a:extLst>
          </p:cNvPr>
          <p:cNvSpPr>
            <a:spLocks noGrp="1"/>
          </p:cNvSpPr>
          <p:nvPr/>
        </p:nvSpPr>
        <p:spPr>
          <a:xfrm>
            <a:off x="6905625" y="493395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1" name="!!enq-row-2-20-1-next">
            <a:extLst>
              <a:ext uri="{FF2B5EF4-FFF2-40B4-BE49-F238E27FC236}">
                <a16:creationId xmlns:a16="http://schemas.microsoft.com/office/drawing/2014/main" id="{527A61F2-04DE-446B-909E-F16434F6B9DA}"/>
              </a:ext>
            </a:extLst>
          </p:cNvPr>
          <p:cNvSpPr>
            <a:spLocks noGrp="1"/>
          </p:cNvSpPr>
          <p:nvPr/>
        </p:nvSpPr>
        <p:spPr>
          <a:xfrm>
            <a:off x="7496175" y="493395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2" name="!!enq-row-2-30-2-data">
            <a:extLst>
              <a:ext uri="{FF2B5EF4-FFF2-40B4-BE49-F238E27FC236}">
                <a16:creationId xmlns:a16="http://schemas.microsoft.com/office/drawing/2014/main" id="{B5DBEEBD-5764-4B00-AD88-2926DE8EDB9F}"/>
              </a:ext>
            </a:extLst>
          </p:cNvPr>
          <p:cNvSpPr>
            <a:spLocks noGrp="1"/>
          </p:cNvSpPr>
          <p:nvPr/>
        </p:nvSpPr>
        <p:spPr>
          <a:xfrm>
            <a:off x="8382000" y="493395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3" name="!!enq-row-2-30-2-next">
            <a:extLst>
              <a:ext uri="{FF2B5EF4-FFF2-40B4-BE49-F238E27FC236}">
                <a16:creationId xmlns:a16="http://schemas.microsoft.com/office/drawing/2014/main" id="{6D2CF03F-219C-441F-A551-93443B7BA08F}"/>
              </a:ext>
            </a:extLst>
          </p:cNvPr>
          <p:cNvSpPr>
            <a:spLocks noGrp="1"/>
          </p:cNvSpPr>
          <p:nvPr/>
        </p:nvSpPr>
        <p:spPr>
          <a:xfrm>
            <a:off x="8972550" y="493395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72" name="Straight Arrow Connector 71"/>
          <p:cNvCxnSpPr>
            <a:stCxn id="29" idx="3"/>
            <a:endCxn id="30" idx="1"/>
          </p:cNvCxnSpPr>
          <p:nvPr/>
        </p:nvCxnSpPr>
        <p:spPr>
          <a:xfrm>
            <a:off x="6419850" y="5143500"/>
            <a:ext cx="485775" cy="0"/>
          </a:xfrm>
          <a:prstGeom prst="straightConnector1">
            <a:avLst/>
          </a:prstGeom>
          <a:ln w="23813">
            <a:solidFill>
              <a:srgbClr val="102A43"/>
            </a:solidFill>
            <a:prstDash val="solid"/>
            <a:tailEnd type="arrow" w="sm" len="sm"/>
          </a:ln>
        </p:spPr>
      </p:cxnSp>
      <p:cxnSp>
        <p:nvCxnSpPr>
          <p:cNvPr id="73" name="Straight Arrow Connector 72"/>
          <p:cNvCxnSpPr>
            <a:stCxn id="31" idx="3"/>
            <a:endCxn id="32" idx="1"/>
          </p:cNvCxnSpPr>
          <p:nvPr/>
        </p:nvCxnSpPr>
        <p:spPr>
          <a:xfrm>
            <a:off x="7896225" y="5143500"/>
            <a:ext cx="485775" cy="0"/>
          </a:xfrm>
          <a:prstGeom prst="straightConnector1">
            <a:avLst/>
          </a:prstGeom>
          <a:ln w="23813">
            <a:solidFill>
              <a:srgbClr val="102A43"/>
            </a:solidFill>
            <a:prstDash val="solid"/>
            <a:tailEnd type="arrow" w="sm" len="sm"/>
          </a:ln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5377897-BC4A-4FA9-912F-74E7BBD6DEE3}"/>
              </a:ext>
            </a:extLst>
          </p:cNvPr>
          <p:cNvSpPr>
            <a:spLocks noGrp="1"/>
          </p:cNvSpPr>
          <p:nvPr/>
        </p:nvSpPr>
        <p:spPr>
          <a:xfrm>
            <a:off x="5391150" y="46291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Front ↓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18BE75-FD1D-4E8D-A3BF-8A8335AE7DCB}"/>
              </a:ext>
            </a:extLst>
          </p:cNvPr>
          <p:cNvSpPr>
            <a:spLocks noGrp="1"/>
          </p:cNvSpPr>
          <p:nvPr/>
        </p:nvSpPr>
        <p:spPr>
          <a:xfrm>
            <a:off x="8353425" y="54102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Rear ↑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7ADEA1-65B4-4C9A-A011-46D24C3C6A99}"/>
              </a:ext>
            </a:extLst>
          </p:cNvPr>
          <p:cNvSpPr>
            <a:spLocks noGrp="1"/>
          </p:cNvSpPr>
          <p:nvPr/>
        </p:nvSpPr>
        <p:spPr>
          <a:xfrm>
            <a:off x="2524125" y="602932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9060"/>
          </a:bodyPr>
          <a:lstStyle/>
          <a:p>
            <a:pPr algn="ctr">
              <a:defRPr sz="1575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Only Rear moves after the first insertion; Front continues to identify the oldest node.</a:t>
            </a:r>
          </a:p>
        </p:txBody>
      </p:sp>
    </p:spTree>
    <p:extLst>
      <p:ext uri="{BB962C8B-B14F-4D97-AF65-F5344CB8AC3E}">
        <p14:creationId xmlns:p14="http://schemas.microsoft.com/office/powerpoint/2010/main" val="26442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A1D3CB-E161-4550-A511-6361A288AE31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ALGORITHM BEFORE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EDF574-0BA8-42C6-A205-2B3E281062FF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Enqueue algorithm: create, link, then move Rear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20C0604-7E68-4FB0-BE64-73FEC514BAAB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CD6EF-3384-4B05-ADA8-09E7D9C6FD40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64E23-3261-4FF4-B71D-57CD6D7006BE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3DF4BF-7C41-4093-A6AF-74E55241F9B7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6667500" cy="47625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D20A6B-FB29-4FDA-AD56-6012DA74A082}"/>
              </a:ext>
            </a:extLst>
          </p:cNvPr>
          <p:cNvSpPr>
            <a:spLocks noGrp="1"/>
          </p:cNvSpPr>
          <p:nvPr/>
        </p:nvSpPr>
        <p:spPr>
          <a:xfrm>
            <a:off x="828675" y="1533525"/>
            <a:ext cx="624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ENQUEUE(item)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E1B8DA-F127-473A-8D4A-9CEE0834773E}"/>
              </a:ext>
            </a:extLst>
          </p:cNvPr>
          <p:cNvSpPr>
            <a:spLocks noGrp="1"/>
          </p:cNvSpPr>
          <p:nvPr/>
        </p:nvSpPr>
        <p:spPr>
          <a:xfrm>
            <a:off x="847725" y="1962150"/>
            <a:ext cx="62103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 Allocate memory for </a:t>
            </a:r>
            <a:r>
              <a:rPr sz="1575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newNode</a:t>
            </a: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 If allocation fails, report overflow and stop.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 Store item in </a:t>
            </a:r>
            <a:r>
              <a:rPr sz="1575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newNode</a:t>
            </a: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-&gt;data.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 Set </a:t>
            </a:r>
            <a:r>
              <a:rPr sz="1575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newNode</a:t>
            </a: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-&gt;next = NULL.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5.  If Rear is NULL, set Front = Rear = </a:t>
            </a:r>
            <a:r>
              <a:rPr sz="1575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newNode</a:t>
            </a: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6.  Otherwise, set Rear-&gt;next = </a:t>
            </a:r>
            <a:r>
              <a:rPr sz="1575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newNode</a:t>
            </a: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7.  Move Rear = </a:t>
            </a:r>
            <a:r>
              <a:rPr sz="1575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newNode</a:t>
            </a: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8.  Stop.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C0015F-54F6-457E-9475-93E784B89A85}"/>
              </a:ext>
            </a:extLst>
          </p:cNvPr>
          <p:cNvSpPr>
            <a:spLocks noGrp="1"/>
          </p:cNvSpPr>
          <p:nvPr/>
        </p:nvSpPr>
        <p:spPr>
          <a:xfrm>
            <a:off x="7620000" y="1381125"/>
            <a:ext cx="3952875" cy="4762500"/>
          </a:xfrm>
          <a:prstGeom prst="roundRect">
            <a:avLst>
              <a:gd name="adj" fmla="val 4819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6244C-1BF5-4A7C-BAF4-AF6FA9ADEA12}"/>
              </a:ext>
            </a:extLst>
          </p:cNvPr>
          <p:cNvSpPr>
            <a:spLocks noGrp="1"/>
          </p:cNvSpPr>
          <p:nvPr/>
        </p:nvSpPr>
        <p:spPr>
          <a:xfrm>
            <a:off x="7905750" y="1666875"/>
            <a:ext cx="3381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20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Why does Front usually stay fixed?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D6ABC0-98A1-440B-B7F9-CE888C2B1D6C}"/>
              </a:ext>
            </a:extLst>
          </p:cNvPr>
          <p:cNvSpPr>
            <a:spLocks noGrp="1"/>
          </p:cNvSpPr>
          <p:nvPr/>
        </p:nvSpPr>
        <p:spPr>
          <a:xfrm>
            <a:off x="7981950" y="2571750"/>
            <a:ext cx="32385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Front identifies the oldest node. Adding a newer node at Rear does not change which element arrived first.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FCE1D0-228D-4994-AE07-726F06D467F9}"/>
              </a:ext>
            </a:extLst>
          </p:cNvPr>
          <p:cNvSpPr>
            <a:spLocks noGrp="1"/>
          </p:cNvSpPr>
          <p:nvPr/>
        </p:nvSpPr>
        <p:spPr>
          <a:xfrm>
            <a:off x="8001000" y="4362450"/>
            <a:ext cx="31908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0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Front changes only during the first insertion into an empty queue.</a:t>
            </a:r>
          </a:p>
        </p:txBody>
      </p:sp>
    </p:spTree>
    <p:extLst>
      <p:ext uri="{BB962C8B-B14F-4D97-AF65-F5344CB8AC3E}">
        <p14:creationId xmlns:p14="http://schemas.microsoft.com/office/powerpoint/2010/main" val="159420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86E2B99-F7C3-46E7-A15B-AC252D89795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DEQUEUE DRY RUN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38E78B-76C7-4371-9496-867A09D88EEA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Removing 10 takes three pointer-safe actions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B5CF2A8-2980-4484-A43F-14FABA1720E9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493C2-6964-4A26-8FDF-599AE0BB66BF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C0035A-2B28-4244-946F-BB8A8AF19518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7DCFA5-738D-4D17-BEEC-FF9719536C0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CB567-4B6B-42FF-98CB-3B8D8F16D0AC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3857625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!!deq-before-10-0-data">
            <a:extLst>
              <a:ext uri="{FF2B5EF4-FFF2-40B4-BE49-F238E27FC236}">
                <a16:creationId xmlns:a16="http://schemas.microsoft.com/office/drawing/2014/main" id="{D9889A40-A25B-4F0F-9AC3-0233FB4C9459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!!deq-before-10-0-next">
            <a:extLst>
              <a:ext uri="{FF2B5EF4-FFF2-40B4-BE49-F238E27FC236}">
                <a16:creationId xmlns:a16="http://schemas.microsoft.com/office/drawing/2014/main" id="{8F2EC206-9DDC-4428-86A2-C425581478E3}"/>
              </a:ext>
            </a:extLst>
          </p:cNvPr>
          <p:cNvSpPr>
            <a:spLocks noGrp="1"/>
          </p:cNvSpPr>
          <p:nvPr/>
        </p:nvSpPr>
        <p:spPr>
          <a:xfrm>
            <a:off x="1466850" y="285750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!!deq-before-20-1-data">
            <a:extLst>
              <a:ext uri="{FF2B5EF4-FFF2-40B4-BE49-F238E27FC236}">
                <a16:creationId xmlns:a16="http://schemas.microsoft.com/office/drawing/2014/main" id="{339B339C-AEF6-4A06-BB0C-CB32A5EE0323}"/>
              </a:ext>
            </a:extLst>
          </p:cNvPr>
          <p:cNvSpPr>
            <a:spLocks noGrp="1"/>
          </p:cNvSpPr>
          <p:nvPr/>
        </p:nvSpPr>
        <p:spPr>
          <a:xfrm>
            <a:off x="2095500" y="285750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1" name="!!deq-before-20-1-next">
            <a:extLst>
              <a:ext uri="{FF2B5EF4-FFF2-40B4-BE49-F238E27FC236}">
                <a16:creationId xmlns:a16="http://schemas.microsoft.com/office/drawing/2014/main" id="{24C57CB4-8C91-42FC-98F8-4B86A8EC9DDB}"/>
              </a:ext>
            </a:extLst>
          </p:cNvPr>
          <p:cNvSpPr>
            <a:spLocks noGrp="1"/>
          </p:cNvSpPr>
          <p:nvPr/>
        </p:nvSpPr>
        <p:spPr>
          <a:xfrm>
            <a:off x="2686050" y="285750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!!deq-before-30-2-data">
            <a:extLst>
              <a:ext uri="{FF2B5EF4-FFF2-40B4-BE49-F238E27FC236}">
                <a16:creationId xmlns:a16="http://schemas.microsoft.com/office/drawing/2014/main" id="{B6C2FD25-7766-43FA-BC74-D8B63C0B5259}"/>
              </a:ext>
            </a:extLst>
          </p:cNvPr>
          <p:cNvSpPr>
            <a:spLocks noGrp="1"/>
          </p:cNvSpPr>
          <p:nvPr/>
        </p:nvSpPr>
        <p:spPr>
          <a:xfrm>
            <a:off x="3314700" y="285750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3" name="!!deq-before-30-2-next">
            <a:extLst>
              <a:ext uri="{FF2B5EF4-FFF2-40B4-BE49-F238E27FC236}">
                <a16:creationId xmlns:a16="http://schemas.microsoft.com/office/drawing/2014/main" id="{40637AE5-DC7C-4E56-A100-A6287D44FB47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57" name="Straight Arrow Connector 56"/>
          <p:cNvCxnSpPr>
            <a:stCxn id="9" idx="3"/>
            <a:endCxn id="10" idx="1"/>
          </p:cNvCxnSpPr>
          <p:nvPr/>
        </p:nvCxnSpPr>
        <p:spPr>
          <a:xfrm>
            <a:off x="1866900" y="3067050"/>
            <a:ext cx="228600" cy="0"/>
          </a:xfrm>
          <a:prstGeom prst="straightConnector1">
            <a:avLst/>
          </a:prstGeom>
          <a:ln w="23813">
            <a:solidFill>
              <a:srgbClr val="102A43"/>
            </a:solidFill>
            <a:prstDash val="solid"/>
            <a:tailEnd type="arrow" w="sm" len="sm"/>
          </a:ln>
        </p:spPr>
      </p:cxnSp>
      <p:cxnSp>
        <p:nvCxnSpPr>
          <p:cNvPr id="58" name="Straight Arrow Connector 57"/>
          <p:cNvCxnSpPr>
            <a:stCxn id="11" idx="3"/>
            <a:endCxn id="12" idx="1"/>
          </p:cNvCxnSpPr>
          <p:nvPr/>
        </p:nvCxnSpPr>
        <p:spPr>
          <a:xfrm>
            <a:off x="3086100" y="3067050"/>
            <a:ext cx="228600" cy="0"/>
          </a:xfrm>
          <a:prstGeom prst="straightConnector1">
            <a:avLst/>
          </a:prstGeom>
          <a:ln w="23813">
            <a:solidFill>
              <a:srgbClr val="102A43"/>
            </a:solidFill>
            <a:prstDash val="solid"/>
            <a:tailEnd type="arrow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A5812-44ED-4263-8D7B-BC696F2EBFDA}"/>
              </a:ext>
            </a:extLst>
          </p:cNvPr>
          <p:cNvSpPr>
            <a:spLocks noGrp="1"/>
          </p:cNvSpPr>
          <p:nvPr/>
        </p:nvSpPr>
        <p:spPr>
          <a:xfrm>
            <a:off x="838200" y="25527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Front 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58105E-97D9-4546-B033-A91E68B16090}"/>
              </a:ext>
            </a:extLst>
          </p:cNvPr>
          <p:cNvSpPr>
            <a:spLocks noGrp="1"/>
          </p:cNvSpPr>
          <p:nvPr/>
        </p:nvSpPr>
        <p:spPr>
          <a:xfrm>
            <a:off x="3286125" y="33337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Rear ↑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EB4CB5A-F587-416A-B132-50B9C11DB8F8}"/>
              </a:ext>
            </a:extLst>
          </p:cNvPr>
          <p:cNvSpPr>
            <a:spLocks noGrp="1"/>
          </p:cNvSpPr>
          <p:nvPr/>
        </p:nvSpPr>
        <p:spPr>
          <a:xfrm>
            <a:off x="847725" y="3695700"/>
            <a:ext cx="857250" cy="32385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temp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8B1CA0-F320-4867-8C03-C6AF0E4ECC56}"/>
              </a:ext>
            </a:extLst>
          </p:cNvPr>
          <p:cNvSpPr>
            <a:spLocks noGrp="1"/>
          </p:cNvSpPr>
          <p:nvPr/>
        </p:nvSpPr>
        <p:spPr>
          <a:xfrm>
            <a:off x="1781175" y="37147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temp stores node 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F94894-BF58-44EC-967B-97C55B613632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063"/>
          </a:bodyPr>
          <a:lstStyle/>
          <a:p>
            <a:pPr algn="ctr">
              <a:defRPr sz="1388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10 is the oldest value, so FIFO requires it to leave first.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420F93-F716-4FDF-94C1-ABBA27529EBB}"/>
              </a:ext>
            </a:extLst>
          </p:cNvPr>
          <p:cNvSpPr>
            <a:spLocks noGrp="1"/>
          </p:cNvSpPr>
          <p:nvPr/>
        </p:nvSpPr>
        <p:spPr>
          <a:xfrm>
            <a:off x="4857750" y="138112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THREE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D0E7D55-3973-4A24-A071-8C8301B248D7}"/>
              </a:ext>
            </a:extLst>
          </p:cNvPr>
          <p:cNvSpPr>
            <a:spLocks noGrp="1"/>
          </p:cNvSpPr>
          <p:nvPr/>
        </p:nvSpPr>
        <p:spPr>
          <a:xfrm>
            <a:off x="4810125" y="1809750"/>
            <a:ext cx="2857500" cy="295275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4288">
            <a:solidFill>
              <a:srgbClr val="D645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86ECCA-C9E6-4200-80D0-59BA903D9173}"/>
              </a:ext>
            </a:extLst>
          </p:cNvPr>
          <p:cNvSpPr>
            <a:spLocks noGrp="1"/>
          </p:cNvSpPr>
          <p:nvPr/>
        </p:nvSpPr>
        <p:spPr>
          <a:xfrm>
            <a:off x="5029200" y="2095500"/>
            <a:ext cx="400050" cy="4000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32CC58-1A0C-4F1D-A1D8-8DC2CF38BEAD}"/>
              </a:ext>
            </a:extLst>
          </p:cNvPr>
          <p:cNvSpPr>
            <a:spLocks noGrp="1"/>
          </p:cNvSpPr>
          <p:nvPr/>
        </p:nvSpPr>
        <p:spPr>
          <a:xfrm>
            <a:off x="5572125" y="207645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88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388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temp = Front;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605404-BB6C-42CC-AE0D-11A9780575F8}"/>
              </a:ext>
            </a:extLst>
          </p:cNvPr>
          <p:cNvSpPr>
            <a:spLocks noGrp="1"/>
          </p:cNvSpPr>
          <p:nvPr/>
        </p:nvSpPr>
        <p:spPr>
          <a:xfrm>
            <a:off x="5572125" y="237172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Keep the old address.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6A9FA4B-4B5F-4054-9D8E-AD6122DD2938}"/>
              </a:ext>
            </a:extLst>
          </p:cNvPr>
          <p:cNvSpPr>
            <a:spLocks noGrp="1"/>
          </p:cNvSpPr>
          <p:nvPr/>
        </p:nvSpPr>
        <p:spPr>
          <a:xfrm>
            <a:off x="5029200" y="2933700"/>
            <a:ext cx="400050" cy="400050"/>
          </a:xfrm>
          <a:prstGeom prst="ellipse">
            <a:avLst/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E907F5-8307-45D5-9BB0-B6AD151B9F73}"/>
              </a:ext>
            </a:extLst>
          </p:cNvPr>
          <p:cNvSpPr>
            <a:spLocks noGrp="1"/>
          </p:cNvSpPr>
          <p:nvPr/>
        </p:nvSpPr>
        <p:spPr>
          <a:xfrm>
            <a:off x="5572125" y="291465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88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388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Front = Front-&gt;next;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2BC952-9A9A-4452-82F6-6833CEA32BAD}"/>
              </a:ext>
            </a:extLst>
          </p:cNvPr>
          <p:cNvSpPr>
            <a:spLocks noGrp="1"/>
          </p:cNvSpPr>
          <p:nvPr/>
        </p:nvSpPr>
        <p:spPr>
          <a:xfrm>
            <a:off x="5572125" y="334737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238" b="0" dirty="0">
                <a:solidFill>
                  <a:srgbClr val="5F7187"/>
                </a:solidFill>
                <a:latin typeface="Aptos"/>
                <a:ea typeface="Aptos"/>
                <a:cs typeface="Aptos"/>
              </a:rPr>
              <a:t>Move to node 20.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9E8BFFD-F0D3-4AF2-AB96-B84F83FC6E14}"/>
              </a:ext>
            </a:extLst>
          </p:cNvPr>
          <p:cNvSpPr>
            <a:spLocks noGrp="1"/>
          </p:cNvSpPr>
          <p:nvPr/>
        </p:nvSpPr>
        <p:spPr>
          <a:xfrm>
            <a:off x="5029200" y="3771900"/>
            <a:ext cx="400050" cy="4000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7DD847-4FE0-4A84-8B2B-CF01AC688106}"/>
              </a:ext>
            </a:extLst>
          </p:cNvPr>
          <p:cNvSpPr>
            <a:spLocks noGrp="1"/>
          </p:cNvSpPr>
          <p:nvPr/>
        </p:nvSpPr>
        <p:spPr>
          <a:xfrm>
            <a:off x="5572125" y="375285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88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388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free(temp);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A991DA-F422-4718-BC66-FA247501D855}"/>
              </a:ext>
            </a:extLst>
          </p:cNvPr>
          <p:cNvSpPr>
            <a:spLocks noGrp="1"/>
          </p:cNvSpPr>
          <p:nvPr/>
        </p:nvSpPr>
        <p:spPr>
          <a:xfrm>
            <a:off x="5572125" y="404812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Release node 10.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52224A-C90B-4B38-9DB4-77C88761DEB0}"/>
              </a:ext>
            </a:extLst>
          </p:cNvPr>
          <p:cNvSpPr>
            <a:spLocks noGrp="1"/>
          </p:cNvSpPr>
          <p:nvPr/>
        </p:nvSpPr>
        <p:spPr>
          <a:xfrm>
            <a:off x="8048625" y="138112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EEF4554-2680-4D08-B89A-F32D369B1DD3}"/>
              </a:ext>
            </a:extLst>
          </p:cNvPr>
          <p:cNvSpPr>
            <a:spLocks noGrp="1"/>
          </p:cNvSpPr>
          <p:nvPr/>
        </p:nvSpPr>
        <p:spPr>
          <a:xfrm>
            <a:off x="8001000" y="1809750"/>
            <a:ext cx="3571875" cy="29527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!!deq-after-20-0-data">
            <a:extLst>
              <a:ext uri="{FF2B5EF4-FFF2-40B4-BE49-F238E27FC236}">
                <a16:creationId xmlns:a16="http://schemas.microsoft.com/office/drawing/2014/main" id="{731AB8AE-0F83-4725-9A02-D686EB8882A6}"/>
              </a:ext>
            </a:extLst>
          </p:cNvPr>
          <p:cNvSpPr>
            <a:spLocks noGrp="1"/>
          </p:cNvSpPr>
          <p:nvPr/>
        </p:nvSpPr>
        <p:spPr>
          <a:xfrm>
            <a:off x="8667750" y="285750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5" name="!!deq-after-20-0-next">
            <a:extLst>
              <a:ext uri="{FF2B5EF4-FFF2-40B4-BE49-F238E27FC236}">
                <a16:creationId xmlns:a16="http://schemas.microsoft.com/office/drawing/2014/main" id="{A3BECE10-6AF7-429F-9823-CDB1CE306FB4}"/>
              </a:ext>
            </a:extLst>
          </p:cNvPr>
          <p:cNvSpPr>
            <a:spLocks noGrp="1"/>
          </p:cNvSpPr>
          <p:nvPr/>
        </p:nvSpPr>
        <p:spPr>
          <a:xfrm>
            <a:off x="9258300" y="285750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6" name="!!deq-after-30-1-data">
            <a:extLst>
              <a:ext uri="{FF2B5EF4-FFF2-40B4-BE49-F238E27FC236}">
                <a16:creationId xmlns:a16="http://schemas.microsoft.com/office/drawing/2014/main" id="{6FF41F04-A0F2-4146-837B-78E25272FF1C}"/>
              </a:ext>
            </a:extLst>
          </p:cNvPr>
          <p:cNvSpPr>
            <a:spLocks noGrp="1"/>
          </p:cNvSpPr>
          <p:nvPr/>
        </p:nvSpPr>
        <p:spPr>
          <a:xfrm>
            <a:off x="10096500" y="2857500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7" name="!!deq-after-30-1-next">
            <a:extLst>
              <a:ext uri="{FF2B5EF4-FFF2-40B4-BE49-F238E27FC236}">
                <a16:creationId xmlns:a16="http://schemas.microsoft.com/office/drawing/2014/main" id="{FD6DE683-4202-4A42-B70C-F0BF072A58BB}"/>
              </a:ext>
            </a:extLst>
          </p:cNvPr>
          <p:cNvSpPr>
            <a:spLocks noGrp="1"/>
          </p:cNvSpPr>
          <p:nvPr/>
        </p:nvSpPr>
        <p:spPr>
          <a:xfrm>
            <a:off x="10687050" y="2857500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81" name="Straight Arrow Connector 80"/>
          <p:cNvCxnSpPr>
            <a:stCxn id="35" idx="3"/>
            <a:endCxn id="36" idx="1"/>
          </p:cNvCxnSpPr>
          <p:nvPr/>
        </p:nvCxnSpPr>
        <p:spPr>
          <a:xfrm>
            <a:off x="9658350" y="3067050"/>
            <a:ext cx="438150" cy="0"/>
          </a:xfrm>
          <a:prstGeom prst="straightConnector1">
            <a:avLst/>
          </a:prstGeom>
          <a:ln w="23813">
            <a:solidFill>
              <a:srgbClr val="102A43"/>
            </a:solidFill>
            <a:prstDash val="solid"/>
            <a:tailEnd type="arrow" w="sm" len="sm"/>
          </a:ln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474F460-C115-4AAC-8CCA-156A3C50BEBD}"/>
              </a:ext>
            </a:extLst>
          </p:cNvPr>
          <p:cNvSpPr>
            <a:spLocks noGrp="1"/>
          </p:cNvSpPr>
          <p:nvPr/>
        </p:nvSpPr>
        <p:spPr>
          <a:xfrm>
            <a:off x="8629650" y="25527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Front ↓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795485-117C-4D81-BB56-EA29577E1541}"/>
              </a:ext>
            </a:extLst>
          </p:cNvPr>
          <p:cNvSpPr>
            <a:spLocks noGrp="1"/>
          </p:cNvSpPr>
          <p:nvPr/>
        </p:nvSpPr>
        <p:spPr>
          <a:xfrm>
            <a:off x="10067925" y="33337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Rear ↑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93FB54-6AF2-487F-9EDB-06929EFCB9C3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42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Node 10 has been released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0D9CE6-876F-4380-A2A5-C675F74F8999}"/>
              </a:ext>
            </a:extLst>
          </p:cNvPr>
          <p:cNvSpPr>
            <a:spLocks noGrp="1"/>
          </p:cNvSpPr>
          <p:nvPr/>
        </p:nvSpPr>
        <p:spPr>
          <a:xfrm>
            <a:off x="8382000" y="4257675"/>
            <a:ext cx="2809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88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Front now identifies the next-oldest node; Rear is unchanged.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38E842-8067-44B2-A4A8-8129491F5CB6}"/>
              </a:ext>
            </a:extLst>
          </p:cNvPr>
          <p:cNvSpPr>
            <a:spLocks noGrp="1"/>
          </p:cNvSpPr>
          <p:nvPr/>
        </p:nvSpPr>
        <p:spPr>
          <a:xfrm>
            <a:off x="3429000" y="5429250"/>
            <a:ext cx="533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Save → Move → Free</a:t>
            </a:r>
          </a:p>
        </p:txBody>
      </p:sp>
    </p:spTree>
    <p:extLst>
      <p:ext uri="{BB962C8B-B14F-4D97-AF65-F5344CB8AC3E}">
        <p14:creationId xmlns:p14="http://schemas.microsoft.com/office/powerpoint/2010/main" val="803369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61A0633-736F-4FEA-950B-CCF09308E4C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ALGORITHM BEFORE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997AD8-D622-4820-96E3-314EB254AAE7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173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Dequeue algorithm: move Front safely, then release memory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84D2D8C-2F83-4400-AEA7-D43FCF52947A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4B0F52-CFA0-40F8-8430-FCF5C659252E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430F5-DCFC-4660-BD45-915F415525D6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0C0CF7-304A-49F4-A106-E8763529D59C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6667500" cy="47625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59937-FF8F-4D6C-B42F-B6BCF66B7982}"/>
              </a:ext>
            </a:extLst>
          </p:cNvPr>
          <p:cNvSpPr>
            <a:spLocks noGrp="1"/>
          </p:cNvSpPr>
          <p:nvPr/>
        </p:nvSpPr>
        <p:spPr>
          <a:xfrm>
            <a:off x="828675" y="1533525"/>
            <a:ext cx="624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DEQUEUE()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7ACCD-3410-4FA0-AD65-7F1B89CA604E}"/>
              </a:ext>
            </a:extLst>
          </p:cNvPr>
          <p:cNvSpPr>
            <a:spLocks noGrp="1"/>
          </p:cNvSpPr>
          <p:nvPr/>
        </p:nvSpPr>
        <p:spPr>
          <a:xfrm>
            <a:off x="847725" y="1962150"/>
            <a:ext cx="62103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 If Front is NULL, report underflow and stop.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 Store Front in a temporary pointer.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 Save the value that will be removed.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 Move Front = Front-&gt;next.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5.  If Front is now NULL, set Rear = NULL.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6.  Release the temporary node using free().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7.  Display the removed value.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8.  Stop.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DD33AF-78C6-4387-97DC-C8E527898E55}"/>
              </a:ext>
            </a:extLst>
          </p:cNvPr>
          <p:cNvSpPr>
            <a:spLocks noGrp="1"/>
          </p:cNvSpPr>
          <p:nvPr/>
        </p:nvSpPr>
        <p:spPr>
          <a:xfrm>
            <a:off x="7620000" y="1381125"/>
            <a:ext cx="3952875" cy="4762500"/>
          </a:xfrm>
          <a:prstGeom prst="roundRect">
            <a:avLst>
              <a:gd name="adj" fmla="val 4819"/>
            </a:avLst>
          </a:prstGeom>
          <a:solidFill>
            <a:srgbClr val="FDECEC"/>
          </a:solidFill>
          <a:ln w="14288">
            <a:solidFill>
              <a:srgbClr val="D645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A2699E-FF76-44BC-81C3-2D3E33FF7F35}"/>
              </a:ext>
            </a:extLst>
          </p:cNvPr>
          <p:cNvSpPr>
            <a:spLocks noGrp="1"/>
          </p:cNvSpPr>
          <p:nvPr/>
        </p:nvSpPr>
        <p:spPr>
          <a:xfrm>
            <a:off x="8048625" y="16573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0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CRITICAL STEP 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3E2D3-FD7F-417A-94CA-5C81D37458D1}"/>
              </a:ext>
            </a:extLst>
          </p:cNvPr>
          <p:cNvSpPr>
            <a:spLocks noGrp="1"/>
          </p:cNvSpPr>
          <p:nvPr/>
        </p:nvSpPr>
        <p:spPr>
          <a:xfrm>
            <a:off x="8115300" y="23812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20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if (Front == NULL)</a:t>
            </a:r>
          </a:p>
          <a:p>
            <a:pPr algn="ctr">
              <a:defRPr sz="20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    Rear = NULL;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7392CF-1A98-4744-AEB9-3927127A957B}"/>
              </a:ext>
            </a:extLst>
          </p:cNvPr>
          <p:cNvSpPr>
            <a:spLocks noGrp="1"/>
          </p:cNvSpPr>
          <p:nvPr/>
        </p:nvSpPr>
        <p:spPr>
          <a:xfrm>
            <a:off x="7953375" y="3667125"/>
            <a:ext cx="3286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After the final deletion, Rear still contains the old address unless we reset it.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4FE0B3-AAB6-4D98-9750-D0D68124431C}"/>
              </a:ext>
            </a:extLst>
          </p:cNvPr>
          <p:cNvSpPr>
            <a:spLocks noGrp="1"/>
          </p:cNvSpPr>
          <p:nvPr/>
        </p:nvSpPr>
        <p:spPr>
          <a:xfrm>
            <a:off x="7972425" y="4953000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787"/>
          </a:bodyPr>
          <a:lstStyle/>
          <a:p>
            <a:pPr algn="ctr">
              <a:defRPr sz="172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Otherwise Rear becomes a dangling pointer to released memory.</a:t>
            </a:r>
          </a:p>
        </p:txBody>
      </p:sp>
    </p:spTree>
    <p:extLst>
      <p:ext uri="{BB962C8B-B14F-4D97-AF65-F5344CB8AC3E}">
        <p14:creationId xmlns:p14="http://schemas.microsoft.com/office/powerpoint/2010/main" val="114506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8EFA96B-BF32-44F2-B741-164D6D23A12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FINAL-NODE EDGE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EF127-31D6-4754-B475-2E04564A0EAE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final deletion must reset both pointers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079D2F9-F5BF-423E-BB5D-7635811D804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A1A17F-C0D3-4BFF-A3F0-43FB4F209086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CDFAB-14B5-43F9-9E8E-BDB10A0761E5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4990AB-B2E4-4F71-A649-B00CE320C8B1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3190875" cy="390525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68502-FED8-40CC-BFE0-7D774E09C408}"/>
              </a:ext>
            </a:extLst>
          </p:cNvPr>
          <p:cNvSpPr>
            <a:spLocks noGrp="1"/>
          </p:cNvSpPr>
          <p:nvPr/>
        </p:nvSpPr>
        <p:spPr>
          <a:xfrm>
            <a:off x="904875" y="169545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8" name="!!last-before-30-0-data">
            <a:extLst>
              <a:ext uri="{FF2B5EF4-FFF2-40B4-BE49-F238E27FC236}">
                <a16:creationId xmlns:a16="http://schemas.microsoft.com/office/drawing/2014/main" id="{809E0EA8-1F97-4D7C-8D88-C392012CEB8E}"/>
              </a:ext>
            </a:extLst>
          </p:cNvPr>
          <p:cNvSpPr>
            <a:spLocks noGrp="1"/>
          </p:cNvSpPr>
          <p:nvPr/>
        </p:nvSpPr>
        <p:spPr>
          <a:xfrm>
            <a:off x="1714500" y="2905125"/>
            <a:ext cx="590550" cy="419100"/>
          </a:xfrm>
          <a:prstGeom prst="rect">
            <a:avLst/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9" name="!!last-before-30-0-next">
            <a:extLst>
              <a:ext uri="{FF2B5EF4-FFF2-40B4-BE49-F238E27FC236}">
                <a16:creationId xmlns:a16="http://schemas.microsoft.com/office/drawing/2014/main" id="{EA4760A6-6DF7-4CC9-B548-B56D299B07F2}"/>
              </a:ext>
            </a:extLst>
          </p:cNvPr>
          <p:cNvSpPr>
            <a:spLocks noGrp="1"/>
          </p:cNvSpPr>
          <p:nvPr/>
        </p:nvSpPr>
        <p:spPr>
          <a:xfrm>
            <a:off x="2305050" y="2905125"/>
            <a:ext cx="400050" cy="419100"/>
          </a:xfrm>
          <a:prstGeom prst="rect">
            <a:avLst/>
          </a:prstGeom>
          <a:solidFill>
            <a:srgbClr val="EAF1FF"/>
          </a:solidFill>
          <a:ln w="14288">
            <a:solidFill>
              <a:srgbClr val="102A43"/>
            </a:solidFill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B364BD-FCE6-4B6D-94BA-F614A7DEFB59}"/>
              </a:ext>
            </a:extLst>
          </p:cNvPr>
          <p:cNvSpPr>
            <a:spLocks noGrp="1"/>
          </p:cNvSpPr>
          <p:nvPr/>
        </p:nvSpPr>
        <p:spPr>
          <a:xfrm>
            <a:off x="1676400" y="2600325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Front 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AE199-5FBA-493E-A7CE-C9AD56787CAE}"/>
              </a:ext>
            </a:extLst>
          </p:cNvPr>
          <p:cNvSpPr>
            <a:spLocks noGrp="1"/>
          </p:cNvSpPr>
          <p:nvPr/>
        </p:nvSpPr>
        <p:spPr>
          <a:xfrm>
            <a:off x="1685925" y="3381375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Rear ↑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50B0D-AFD9-496F-B6FA-41F7905401A6}"/>
              </a:ext>
            </a:extLst>
          </p:cNvPr>
          <p:cNvSpPr>
            <a:spLocks noGrp="1"/>
          </p:cNvSpPr>
          <p:nvPr/>
        </p:nvSpPr>
        <p:spPr>
          <a:xfrm>
            <a:off x="1000125" y="3857625"/>
            <a:ext cx="2428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Front and Rear both point to the only node.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A6210E-3F9A-438F-BCB2-3DB5AA648F7A}"/>
              </a:ext>
            </a:extLst>
          </p:cNvPr>
          <p:cNvSpPr>
            <a:spLocks noGrp="1"/>
          </p:cNvSpPr>
          <p:nvPr/>
        </p:nvSpPr>
        <p:spPr>
          <a:xfrm>
            <a:off x="4143375" y="1428750"/>
            <a:ext cx="3905250" cy="3905250"/>
          </a:xfrm>
          <a:prstGeom prst="roundRect">
            <a:avLst>
              <a:gd name="adj" fmla="val 4390"/>
            </a:avLst>
          </a:prstGeom>
          <a:solidFill>
            <a:srgbClr val="FFF1E3"/>
          </a:solidFill>
          <a:ln w="14288">
            <a:solidFill>
              <a:srgbClr val="F28C2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0983D2-035F-43F6-AC5D-EF505BB343E9}"/>
              </a:ext>
            </a:extLst>
          </p:cNvPr>
          <p:cNvSpPr>
            <a:spLocks noGrp="1"/>
          </p:cNvSpPr>
          <p:nvPr/>
        </p:nvSpPr>
        <p:spPr>
          <a:xfrm>
            <a:off x="4476750" y="16954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CRITICAL SEQUENCE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78051E-A729-4094-BB32-0458AA806D9B}"/>
              </a:ext>
            </a:extLst>
          </p:cNvPr>
          <p:cNvSpPr>
            <a:spLocks noGrp="1"/>
          </p:cNvSpPr>
          <p:nvPr/>
        </p:nvSpPr>
        <p:spPr>
          <a:xfrm>
            <a:off x="4552950" y="2362200"/>
            <a:ext cx="309562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temp = Front;</a:t>
            </a:r>
          </a:p>
          <a:p>
            <a:pPr algn="l">
              <a:def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Front = Front-&gt;next;   // NULL</a:t>
            </a:r>
          </a:p>
          <a:p>
            <a:pPr algn="l">
              <a:def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if (Front == NULL)</a:t>
            </a:r>
          </a:p>
          <a:p>
            <a:pPr algn="l">
              <a:def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    Rear = NULL;</a:t>
            </a:r>
          </a:p>
          <a:p>
            <a:pPr algn="l">
              <a:def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free(temp);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3D9D43-9017-433B-BAE8-213FCF96DE04}"/>
              </a:ext>
            </a:extLst>
          </p:cNvPr>
          <p:cNvSpPr>
            <a:spLocks noGrp="1"/>
          </p:cNvSpPr>
          <p:nvPr/>
        </p:nvSpPr>
        <p:spPr>
          <a:xfrm>
            <a:off x="4714875" y="44958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Rear does not reset itself.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9FDE59-EA7F-4DE9-B48F-CD8AD3BBAD9F}"/>
              </a:ext>
            </a:extLst>
          </p:cNvPr>
          <p:cNvSpPr>
            <a:spLocks noGrp="1"/>
          </p:cNvSpPr>
          <p:nvPr/>
        </p:nvSpPr>
        <p:spPr>
          <a:xfrm>
            <a:off x="8382000" y="1428750"/>
            <a:ext cx="3190875" cy="3905250"/>
          </a:xfrm>
          <a:prstGeom prst="roundRect">
            <a:avLst>
              <a:gd name="adj" fmla="val 5373"/>
            </a:avLst>
          </a:prstGeom>
          <a:solidFill>
            <a:srgbClr val="E8F7EF"/>
          </a:solidFill>
          <a:ln w="14288">
            <a:solidFill>
              <a:srgbClr val="2E9D6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6434D5-66B9-4D69-AC78-98E457B77998}"/>
              </a:ext>
            </a:extLst>
          </p:cNvPr>
          <p:cNvSpPr>
            <a:spLocks noGrp="1"/>
          </p:cNvSpPr>
          <p:nvPr/>
        </p:nvSpPr>
        <p:spPr>
          <a:xfrm>
            <a:off x="8667750" y="169545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C53791-6A6F-404F-8D7C-7DD8193F4B52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4BBF8C-4929-4D07-B2F4-819FC9EEAB52}"/>
              </a:ext>
            </a:extLst>
          </p:cNvPr>
          <p:cNvSpPr>
            <a:spLocks noGrp="1"/>
          </p:cNvSpPr>
          <p:nvPr/>
        </p:nvSpPr>
        <p:spPr>
          <a:xfrm>
            <a:off x="10001250" y="26670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75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= NULL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24B759-9599-4C44-B8A0-A7F5FABC849E}"/>
              </a:ext>
            </a:extLst>
          </p:cNvPr>
          <p:cNvSpPr>
            <a:spLocks noGrp="1"/>
          </p:cNvSpPr>
          <p:nvPr/>
        </p:nvSpPr>
        <p:spPr>
          <a:xfrm>
            <a:off x="8858250" y="3286125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CFD476-6995-41D9-A127-DE1D22737ADC}"/>
              </a:ext>
            </a:extLst>
          </p:cNvPr>
          <p:cNvSpPr>
            <a:spLocks noGrp="1"/>
          </p:cNvSpPr>
          <p:nvPr/>
        </p:nvSpPr>
        <p:spPr>
          <a:xfrm>
            <a:off x="10001250" y="330517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7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= NULL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723FDD-C3DC-4E22-B68D-0F1228103E9C}"/>
              </a:ext>
            </a:extLst>
          </p:cNvPr>
          <p:cNvSpPr>
            <a:spLocks noGrp="1"/>
          </p:cNvSpPr>
          <p:nvPr/>
        </p:nvSpPr>
        <p:spPr>
          <a:xfrm>
            <a:off x="8905875" y="4095750"/>
            <a:ext cx="2143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9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QUEUE EMPTY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B97EED-DF54-42B3-966B-82C4D3EB3397}"/>
              </a:ext>
            </a:extLst>
          </p:cNvPr>
          <p:cNvSpPr>
            <a:spLocks noGrp="1"/>
          </p:cNvSpPr>
          <p:nvPr/>
        </p:nvSpPr>
        <p:spPr>
          <a:xfrm>
            <a:off x="2238375" y="5715000"/>
            <a:ext cx="771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72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If Rear kept the released address, it would be a dangling pointer.</a:t>
            </a:r>
          </a:p>
        </p:txBody>
      </p:sp>
    </p:spTree>
    <p:extLst>
      <p:ext uri="{BB962C8B-B14F-4D97-AF65-F5344CB8AC3E}">
        <p14:creationId xmlns:p14="http://schemas.microsoft.com/office/powerpoint/2010/main" val="1934230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67DAB41-DE7E-48FE-8535-67449AA2FFE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PEEK AND DISPLAY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6E6890-7CE3-438D-B84E-395E3F20AA85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Peek reads Front; Display traverses the queue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5BD6958-03DE-42E4-B697-8D9238684B60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96344-7BD6-452A-9961-86D3FD6D25DF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DD48E3-2977-4C1C-9566-A47E96AFC36A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B7BE41-93D4-4967-A3A7-BC4689DC2CFC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5238750" cy="36195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3147F9-08A9-498B-9D88-F88681367970}"/>
              </a:ext>
            </a:extLst>
          </p:cNvPr>
          <p:cNvSpPr>
            <a:spLocks noGrp="1"/>
          </p:cNvSpPr>
          <p:nvPr/>
        </p:nvSpPr>
        <p:spPr>
          <a:xfrm>
            <a:off x="828675" y="1533525"/>
            <a:ext cx="481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7559D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559D9"/>
                </a:solidFill>
                <a:latin typeface="Aptos"/>
                <a:ea typeface="Aptos"/>
                <a:cs typeface="Aptos"/>
              </a:rPr>
              <a:t>PEEK()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95DBC0-7D28-47F5-9A45-FB2B4139A265}"/>
              </a:ext>
            </a:extLst>
          </p:cNvPr>
          <p:cNvSpPr>
            <a:spLocks noGrp="1"/>
          </p:cNvSpPr>
          <p:nvPr/>
        </p:nvSpPr>
        <p:spPr>
          <a:xfrm>
            <a:off x="847725" y="1962150"/>
            <a:ext cx="478155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 If Front is NULL, report that the queue is empty.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 Otherwise, read Front-&gt;data.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 Return or print the value.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 Do not change Front, Rear or any Next link.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208D55-227D-4B2B-AC68-8F527650D55A}"/>
              </a:ext>
            </a:extLst>
          </p:cNvPr>
          <p:cNvSpPr>
            <a:spLocks noGrp="1"/>
          </p:cNvSpPr>
          <p:nvPr/>
        </p:nvSpPr>
        <p:spPr>
          <a:xfrm>
            <a:off x="6191250" y="1381125"/>
            <a:ext cx="5381625" cy="36195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72CC33-2CF1-498B-B555-0036158B149D}"/>
              </a:ext>
            </a:extLst>
          </p:cNvPr>
          <p:cNvSpPr>
            <a:spLocks noGrp="1"/>
          </p:cNvSpPr>
          <p:nvPr/>
        </p:nvSpPr>
        <p:spPr>
          <a:xfrm>
            <a:off x="6400800" y="1533525"/>
            <a:ext cx="4962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DISPLAY()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99DCFF-1236-4110-8699-75E03A5B4358}"/>
              </a:ext>
            </a:extLst>
          </p:cNvPr>
          <p:cNvSpPr>
            <a:spLocks noGrp="1"/>
          </p:cNvSpPr>
          <p:nvPr/>
        </p:nvSpPr>
        <p:spPr>
          <a:xfrm>
            <a:off x="6419850" y="1962150"/>
            <a:ext cx="4924425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 If Front is NULL, report that the queue is empty.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 Set a traversal pointer current = Front.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 Print current-&gt;data.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 Move current = current-&gt;next.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5.  Repeat until current becomes NULL.</a:t>
            </a:r>
          </a:p>
          <a:p>
            <a:pPr algn="l">
              <a:lnSpc>
                <a:spcPct val="200000"/>
              </a:lnSpc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6.  Never move Front itself.</a:t>
            </a:r>
          </a:p>
        </p:txBody>
      </p:sp>
      <p:sp>
        <p:nvSpPr>
          <p:cNvPr id="12" name="!!node-10-data">
            <a:extLst>
              <a:ext uri="{FF2B5EF4-FFF2-40B4-BE49-F238E27FC236}">
                <a16:creationId xmlns:a16="http://schemas.microsoft.com/office/drawing/2014/main" id="{C3262EF9-D087-45AB-93FE-D7FE6D2F22DF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3" name="!!node-10-next">
            <a:extLst>
              <a:ext uri="{FF2B5EF4-FFF2-40B4-BE49-F238E27FC236}">
                <a16:creationId xmlns:a16="http://schemas.microsoft.com/office/drawing/2014/main" id="{CE674798-1914-424B-804A-B56DF3C0FD45}"/>
              </a:ext>
            </a:extLst>
          </p:cNvPr>
          <p:cNvSpPr>
            <a:spLocks noGrp="1"/>
          </p:cNvSpPr>
          <p:nvPr/>
        </p:nvSpPr>
        <p:spPr>
          <a:xfrm>
            <a:off x="4076700" y="547687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!!node-20-data">
            <a:extLst>
              <a:ext uri="{FF2B5EF4-FFF2-40B4-BE49-F238E27FC236}">
                <a16:creationId xmlns:a16="http://schemas.microsoft.com/office/drawing/2014/main" id="{9BB29D43-F399-43F8-BADD-FF5A504C1229}"/>
              </a:ext>
            </a:extLst>
          </p:cNvPr>
          <p:cNvSpPr>
            <a:spLocks noGrp="1"/>
          </p:cNvSpPr>
          <p:nvPr/>
        </p:nvSpPr>
        <p:spPr>
          <a:xfrm>
            <a:off x="5143500" y="547687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" name="!!node-20-next">
            <a:extLst>
              <a:ext uri="{FF2B5EF4-FFF2-40B4-BE49-F238E27FC236}">
                <a16:creationId xmlns:a16="http://schemas.microsoft.com/office/drawing/2014/main" id="{8C94D76E-031C-4398-8B72-836720462CBC}"/>
              </a:ext>
            </a:extLst>
          </p:cNvPr>
          <p:cNvSpPr>
            <a:spLocks noGrp="1"/>
          </p:cNvSpPr>
          <p:nvPr/>
        </p:nvSpPr>
        <p:spPr>
          <a:xfrm>
            <a:off x="6172200" y="547687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!!node-30-data">
            <a:extLst>
              <a:ext uri="{FF2B5EF4-FFF2-40B4-BE49-F238E27FC236}">
                <a16:creationId xmlns:a16="http://schemas.microsoft.com/office/drawing/2014/main" id="{06B2546C-BD0D-476B-BFD7-8259CA71D5FA}"/>
              </a:ext>
            </a:extLst>
          </p:cNvPr>
          <p:cNvSpPr>
            <a:spLocks noGrp="1"/>
          </p:cNvSpPr>
          <p:nvPr/>
        </p:nvSpPr>
        <p:spPr>
          <a:xfrm>
            <a:off x="7239000" y="5476875"/>
            <a:ext cx="1028700" cy="704850"/>
          </a:xfrm>
          <a:prstGeom prst="rect">
            <a:avLst/>
          </a:prstGeom>
          <a:solidFill>
            <a:srgbClr val="102A43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7" name="!!node-30-next">
            <a:extLst>
              <a:ext uri="{FF2B5EF4-FFF2-40B4-BE49-F238E27FC236}">
                <a16:creationId xmlns:a16="http://schemas.microsoft.com/office/drawing/2014/main" id="{F3DA082E-F776-4A7D-BB3E-48201835D0F6}"/>
              </a:ext>
            </a:extLst>
          </p:cNvPr>
          <p:cNvSpPr>
            <a:spLocks noGrp="1"/>
          </p:cNvSpPr>
          <p:nvPr/>
        </p:nvSpPr>
        <p:spPr>
          <a:xfrm>
            <a:off x="8267700" y="5476875"/>
            <a:ext cx="742950" cy="704850"/>
          </a:xfrm>
          <a:prstGeom prst="rect">
            <a:avLst/>
          </a:prstGeom>
          <a:solidFill>
            <a:srgbClr val="EAF1FF"/>
          </a:solidFill>
          <a:ln w="19050">
            <a:solidFill>
              <a:srgbClr val="102A4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cxnSp>
        <p:nvCxnSpPr>
          <p:cNvPr id="43" name="Straight Arrow Connector 42"/>
          <p:cNvCxnSpPr>
            <a:stCxn id="13" idx="3"/>
            <a:endCxn id="14" idx="1"/>
          </p:cNvCxnSpPr>
          <p:nvPr/>
        </p:nvCxnSpPr>
        <p:spPr>
          <a:xfrm>
            <a:off x="4819650" y="5829300"/>
            <a:ext cx="323850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cxnSp>
        <p:nvCxnSpPr>
          <p:cNvPr id="44" name="Straight Arrow Connector 43"/>
          <p:cNvCxnSpPr>
            <a:stCxn id="15" idx="3"/>
            <a:endCxn id="16" idx="1"/>
          </p:cNvCxnSpPr>
          <p:nvPr/>
        </p:nvCxnSpPr>
        <p:spPr>
          <a:xfrm>
            <a:off x="6915150" y="5829300"/>
            <a:ext cx="323850" cy="0"/>
          </a:xfrm>
          <a:prstGeom prst="straightConnector1">
            <a:avLst/>
          </a:prstGeom>
          <a:ln w="28575">
            <a:solidFill>
              <a:srgbClr val="102A43"/>
            </a:solidFill>
            <a:prstDash val="solid"/>
            <a:tailEnd type="arrow" w="med" len="med"/>
          </a:ln>
        </p:spPr>
      </p:cxnSp>
      <p:sp>
        <p:nvSpPr>
          <p:cNvPr id="20" name="!!front-label">
            <a:extLst>
              <a:ext uri="{FF2B5EF4-FFF2-40B4-BE49-F238E27FC236}">
                <a16:creationId xmlns:a16="http://schemas.microsoft.com/office/drawing/2014/main" id="{73DC3768-40F2-42AB-92FB-F9E00265C4E5}"/>
              </a:ext>
            </a:extLst>
          </p:cNvPr>
          <p:cNvSpPr>
            <a:spLocks noGrp="1"/>
          </p:cNvSpPr>
          <p:nvPr/>
        </p:nvSpPr>
        <p:spPr>
          <a:xfrm>
            <a:off x="2952750" y="479107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</a:t>
            </a:r>
          </a:p>
        </p:txBody>
      </p:sp>
      <p:cxnSp>
        <p:nvCxnSpPr>
          <p:cNvPr id="46" name="Straight Arrow Connector 45"/>
          <p:cNvCxnSpPr>
            <a:stCxn id="20" idx="2"/>
            <a:endCxn id="12" idx="0"/>
          </p:cNvCxnSpPr>
          <p:nvPr/>
        </p:nvCxnSpPr>
        <p:spPr>
          <a:xfrm>
            <a:off x="3486150" y="5114925"/>
            <a:ext cx="76200" cy="361950"/>
          </a:xfrm>
          <a:prstGeom prst="straightConnector1">
            <a:avLst/>
          </a:prstGeom>
          <a:ln w="28575">
            <a:solidFill>
              <a:srgbClr val="2E9D65"/>
            </a:solidFill>
            <a:prstDash val="solid"/>
            <a:tailEnd type="arrow" w="med" len="med"/>
          </a:ln>
        </p:spPr>
      </p:cxnSp>
      <p:sp>
        <p:nvSpPr>
          <p:cNvPr id="22" name="!!rear-label">
            <a:extLst>
              <a:ext uri="{FF2B5EF4-FFF2-40B4-BE49-F238E27FC236}">
                <a16:creationId xmlns:a16="http://schemas.microsoft.com/office/drawing/2014/main" id="{43D47AE7-669C-4832-AEAE-361CD683EBF9}"/>
              </a:ext>
            </a:extLst>
          </p:cNvPr>
          <p:cNvSpPr>
            <a:spLocks noGrp="1"/>
          </p:cNvSpPr>
          <p:nvPr/>
        </p:nvSpPr>
        <p:spPr>
          <a:xfrm>
            <a:off x="7905750" y="641032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Rear</a:t>
            </a:r>
          </a:p>
        </p:txBody>
      </p:sp>
      <p:cxnSp>
        <p:nvCxnSpPr>
          <p:cNvPr id="48" name="Straight Arrow Connector 47"/>
          <p:cNvCxnSpPr>
            <a:stCxn id="22" idx="0"/>
            <a:endCxn id="16" idx="2"/>
          </p:cNvCxnSpPr>
          <p:nvPr/>
        </p:nvCxnSpPr>
        <p:spPr>
          <a:xfrm flipH="1" flipV="1">
            <a:off x="7753350" y="6181725"/>
            <a:ext cx="685800" cy="228600"/>
          </a:xfrm>
          <a:prstGeom prst="straightConnector1">
            <a:avLst/>
          </a:prstGeom>
          <a:ln w="28575">
            <a:solidFill>
              <a:srgbClr val="F28C28"/>
            </a:solidFill>
            <a:prstDash val="solid"/>
            <a:tailEnd type="arrow" w="med" len="med"/>
          </a:ln>
        </p:spPr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B822C79-79C3-4020-A74A-277F1E163CC8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9525">
            <a:solidFill>
              <a:srgbClr val="2B7A78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cxnSp>
        <p:nvCxnSpPr>
          <p:cNvPr id="50" name="Straight Arrow Connector 49"/>
          <p:cNvCxnSpPr>
            <a:stCxn id="24" idx="3"/>
            <a:endCxn id="12" idx="1"/>
          </p:cNvCxnSpPr>
          <p:nvPr/>
        </p:nvCxnSpPr>
        <p:spPr>
          <a:xfrm>
            <a:off x="2143125" y="5762625"/>
            <a:ext cx="904875" cy="66675"/>
          </a:xfrm>
          <a:prstGeom prst="straightConnector1">
            <a:avLst/>
          </a:prstGeom>
          <a:ln w="28575">
            <a:solidFill>
              <a:srgbClr val="2B7A78"/>
            </a:solidFill>
            <a:prstDash val="dash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992093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0202A89-9662-404F-B767-EB598B0C26F2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EDGE CASES AND SAFETY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157EC8-072E-419A-8CB4-E76335F2B114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956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Correct queue code protects seven important conditions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C90F41D-C29A-4522-9B22-35925BF4313D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9552FF-FCCE-474A-8B7B-9578A8EE14EE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52B63-F9F7-4DC9-92D7-52239C6903C0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431BC-9973-4D4D-BA5F-876044721CE5}"/>
              </a:ext>
            </a:extLst>
          </p:cNvPr>
          <p:cNvSpPr>
            <a:spLocks noGrp="1"/>
          </p:cNvSpPr>
          <p:nvPr/>
        </p:nvSpPr>
        <p:spPr>
          <a:xfrm>
            <a:off x="723900" y="1371600"/>
            <a:ext cx="400050" cy="400050"/>
          </a:xfrm>
          <a:prstGeom prst="ellipse">
            <a:avLst/>
          </a:prstGeom>
          <a:solidFill>
            <a:srgbClr val="2E9D65"/>
          </a:solidFill>
          <a:ln w="9525">
            <a:solidFill>
              <a:srgbClr val="2E9D65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D3056-EAEE-4367-B5D7-E39CB050F00C}"/>
              </a:ext>
            </a:extLst>
          </p:cNvPr>
          <p:cNvSpPr>
            <a:spLocks noGrp="1"/>
          </p:cNvSpPr>
          <p:nvPr/>
        </p:nvSpPr>
        <p:spPr>
          <a:xfrm>
            <a:off x="1314450" y="135255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First Enqueue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45AFA-AA62-4CBD-8AB8-759566CF43FD}"/>
              </a:ext>
            </a:extLst>
          </p:cNvPr>
          <p:cNvSpPr>
            <a:spLocks noGrp="1"/>
          </p:cNvSpPr>
          <p:nvPr/>
        </p:nvSpPr>
        <p:spPr>
          <a:xfrm>
            <a:off x="3762375" y="1352550"/>
            <a:ext cx="752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Set both Front and Rear to newNode.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830CD1E-275C-48C1-8782-CF69C44E68A1}"/>
              </a:ext>
            </a:extLst>
          </p:cNvPr>
          <p:cNvSpPr>
            <a:spLocks noGrp="1"/>
          </p:cNvSpPr>
          <p:nvPr/>
        </p:nvSpPr>
        <p:spPr>
          <a:xfrm>
            <a:off x="1314450" y="1895475"/>
            <a:ext cx="9906000" cy="0"/>
          </a:xfrm>
          <a:prstGeom prst="line">
            <a:avLst/>
          </a:prstGeom>
          <a:noFill/>
          <a:ln w="9525">
            <a:solidFill>
              <a:srgbClr val="C8D4E3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4C2ECF-8CF5-40DB-8B50-2940CAA85B15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400050" cy="4000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F6192-95FB-43B2-A6DB-9EAC27230D4D}"/>
              </a:ext>
            </a:extLst>
          </p:cNvPr>
          <p:cNvSpPr>
            <a:spLocks noGrp="1"/>
          </p:cNvSpPr>
          <p:nvPr/>
        </p:nvSpPr>
        <p:spPr>
          <a:xfrm>
            <a:off x="1314450" y="201930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Empty Dequeue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C0A217-5305-41FA-AF0C-62351EC12C33}"/>
              </a:ext>
            </a:extLst>
          </p:cNvPr>
          <p:cNvSpPr>
            <a:spLocks noGrp="1"/>
          </p:cNvSpPr>
          <p:nvPr/>
        </p:nvSpPr>
        <p:spPr>
          <a:xfrm>
            <a:off x="3762375" y="2019300"/>
            <a:ext cx="752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Report underflow; do not call free().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05B3CCF-A0F7-4979-8448-DCCDDA5CBBB2}"/>
              </a:ext>
            </a:extLst>
          </p:cNvPr>
          <p:cNvSpPr>
            <a:spLocks noGrp="1"/>
          </p:cNvSpPr>
          <p:nvPr/>
        </p:nvSpPr>
        <p:spPr>
          <a:xfrm>
            <a:off x="1314450" y="2562225"/>
            <a:ext cx="9906000" cy="0"/>
          </a:xfrm>
          <a:prstGeom prst="line">
            <a:avLst/>
          </a:prstGeom>
          <a:noFill/>
          <a:ln w="9525">
            <a:solidFill>
              <a:srgbClr val="C8D4E3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DBD8FC-0131-4E80-8BD3-3D0C6BBE8D1E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400050" cy="400050"/>
          </a:xfrm>
          <a:prstGeom prst="ellipse">
            <a:avLst/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F253E7-EA51-4BA7-AE02-8DD46360B7F5}"/>
              </a:ext>
            </a:extLst>
          </p:cNvPr>
          <p:cNvSpPr>
            <a:spLocks noGrp="1"/>
          </p:cNvSpPr>
          <p:nvPr/>
        </p:nvSpPr>
        <p:spPr>
          <a:xfrm>
            <a:off x="1314450" y="268605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Final Dequeue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186D7B-707D-418F-95EC-15F9DAB3182C}"/>
              </a:ext>
            </a:extLst>
          </p:cNvPr>
          <p:cNvSpPr>
            <a:spLocks noGrp="1"/>
          </p:cNvSpPr>
          <p:nvPr/>
        </p:nvSpPr>
        <p:spPr>
          <a:xfrm>
            <a:off x="3762375" y="2686050"/>
            <a:ext cx="752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After Front becomes NULL, set Rear = NULL.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977F994-88C1-4CDC-B3D0-44D7809AB738}"/>
              </a:ext>
            </a:extLst>
          </p:cNvPr>
          <p:cNvSpPr>
            <a:spLocks noGrp="1"/>
          </p:cNvSpPr>
          <p:nvPr/>
        </p:nvSpPr>
        <p:spPr>
          <a:xfrm>
            <a:off x="1314450" y="3228975"/>
            <a:ext cx="9906000" cy="0"/>
          </a:xfrm>
          <a:prstGeom prst="line">
            <a:avLst/>
          </a:prstGeom>
          <a:noFill/>
          <a:ln w="9525">
            <a:solidFill>
              <a:srgbClr val="C8D4E3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C4A14A-4065-42DB-8EF2-39E7F7C6604F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00050" cy="4000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08255D-7A29-4CC3-9226-7C72769A81F6}"/>
              </a:ext>
            </a:extLst>
          </p:cNvPr>
          <p:cNvSpPr>
            <a:spLocks noGrp="1"/>
          </p:cNvSpPr>
          <p:nvPr/>
        </p:nvSpPr>
        <p:spPr>
          <a:xfrm>
            <a:off x="1314450" y="335280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Allocation failure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E1222C-B017-41C9-8628-3B59D5504215}"/>
              </a:ext>
            </a:extLst>
          </p:cNvPr>
          <p:cNvSpPr>
            <a:spLocks noGrp="1"/>
          </p:cNvSpPr>
          <p:nvPr/>
        </p:nvSpPr>
        <p:spPr>
          <a:xfrm>
            <a:off x="3762375" y="3352800"/>
            <a:ext cx="752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 malloc() before using newNode.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6930D91-F4D4-4AAB-8184-F38533F26D41}"/>
              </a:ext>
            </a:extLst>
          </p:cNvPr>
          <p:cNvSpPr>
            <a:spLocks noGrp="1"/>
          </p:cNvSpPr>
          <p:nvPr/>
        </p:nvSpPr>
        <p:spPr>
          <a:xfrm>
            <a:off x="1314450" y="3895725"/>
            <a:ext cx="9906000" cy="0"/>
          </a:xfrm>
          <a:prstGeom prst="line">
            <a:avLst/>
          </a:prstGeom>
          <a:noFill/>
          <a:ln w="9525">
            <a:solidFill>
              <a:srgbClr val="C8D4E3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2BDCBB-4FB4-407F-B4D2-E8E34557A801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400050" cy="40005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8F9B16-73DE-49D4-8ECC-5236D0AA1341}"/>
              </a:ext>
            </a:extLst>
          </p:cNvPr>
          <p:cNvSpPr>
            <a:spLocks noGrp="1"/>
          </p:cNvSpPr>
          <p:nvPr/>
        </p:nvSpPr>
        <p:spPr>
          <a:xfrm>
            <a:off x="1314450" y="401955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Rear invariant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0FF06F-1275-4277-90E7-EC824A51125B}"/>
              </a:ext>
            </a:extLst>
          </p:cNvPr>
          <p:cNvSpPr>
            <a:spLocks noGrp="1"/>
          </p:cNvSpPr>
          <p:nvPr/>
        </p:nvSpPr>
        <p:spPr>
          <a:xfrm>
            <a:off x="3762375" y="4019550"/>
            <a:ext cx="752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Rear-&gt;next must always be NULL.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DBBAE644-BC16-4D5A-9106-0511D006BE5B}"/>
              </a:ext>
            </a:extLst>
          </p:cNvPr>
          <p:cNvSpPr>
            <a:spLocks noGrp="1"/>
          </p:cNvSpPr>
          <p:nvPr/>
        </p:nvSpPr>
        <p:spPr>
          <a:xfrm>
            <a:off x="1314450" y="4562475"/>
            <a:ext cx="9906000" cy="0"/>
          </a:xfrm>
          <a:prstGeom prst="line">
            <a:avLst/>
          </a:prstGeom>
          <a:noFill/>
          <a:ln w="9525">
            <a:solidFill>
              <a:srgbClr val="C8D4E3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D1C3D23-D3A4-41ED-A56B-F634299EA035}"/>
              </a:ext>
            </a:extLst>
          </p:cNvPr>
          <p:cNvSpPr>
            <a:spLocks noGrp="1"/>
          </p:cNvSpPr>
          <p:nvPr/>
        </p:nvSpPr>
        <p:spPr>
          <a:xfrm>
            <a:off x="723900" y="4705350"/>
            <a:ext cx="400050" cy="400050"/>
          </a:xfrm>
          <a:prstGeom prst="ellipse">
            <a:avLst/>
          </a:prstGeom>
          <a:solidFill>
            <a:srgbClr val="2B7A78"/>
          </a:solidFill>
          <a:ln w="9525">
            <a:solidFill>
              <a:srgbClr val="2B7A78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145846-8BF6-4E22-91CB-9FAC59406B18}"/>
              </a:ext>
            </a:extLst>
          </p:cNvPr>
          <p:cNvSpPr>
            <a:spLocks noGrp="1"/>
          </p:cNvSpPr>
          <p:nvPr/>
        </p:nvSpPr>
        <p:spPr>
          <a:xfrm>
            <a:off x="1314450" y="468630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Empty invariant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49CCF0-8466-4F74-A115-906AFC4B4A8E}"/>
              </a:ext>
            </a:extLst>
          </p:cNvPr>
          <p:cNvSpPr>
            <a:spLocks noGrp="1"/>
          </p:cNvSpPr>
          <p:nvPr/>
        </p:nvSpPr>
        <p:spPr>
          <a:xfrm>
            <a:off x="3762375" y="4686300"/>
            <a:ext cx="752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Front and Rear must both be NULL.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C982838A-3A10-49AA-A98E-451D1D13E20B}"/>
              </a:ext>
            </a:extLst>
          </p:cNvPr>
          <p:cNvSpPr>
            <a:spLocks noGrp="1"/>
          </p:cNvSpPr>
          <p:nvPr/>
        </p:nvSpPr>
        <p:spPr>
          <a:xfrm>
            <a:off x="1314450" y="5229225"/>
            <a:ext cx="9906000" cy="0"/>
          </a:xfrm>
          <a:prstGeom prst="line">
            <a:avLst/>
          </a:prstGeom>
          <a:noFill/>
          <a:ln w="9525">
            <a:solidFill>
              <a:srgbClr val="C8D4E3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2D71A00-1195-4D42-BB9A-C77A447BABCF}"/>
              </a:ext>
            </a:extLst>
          </p:cNvPr>
          <p:cNvSpPr>
            <a:spLocks noGrp="1"/>
          </p:cNvSpPr>
          <p:nvPr/>
        </p:nvSpPr>
        <p:spPr>
          <a:xfrm>
            <a:off x="723900" y="5372100"/>
            <a:ext cx="400050" cy="400050"/>
          </a:xfrm>
          <a:prstGeom prst="ellipse">
            <a:avLst/>
          </a:prstGeom>
          <a:solidFill>
            <a:srgbClr val="7559D9"/>
          </a:solidFill>
          <a:ln w="9525">
            <a:solidFill>
              <a:srgbClr val="7559D9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A455BC-085B-49E9-9C92-F83252C561D9}"/>
              </a:ext>
            </a:extLst>
          </p:cNvPr>
          <p:cNvSpPr>
            <a:spLocks noGrp="1"/>
          </p:cNvSpPr>
          <p:nvPr/>
        </p:nvSpPr>
        <p:spPr>
          <a:xfrm>
            <a:off x="1314450" y="535305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7559D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59D9"/>
                </a:solidFill>
                <a:latin typeface="Aptos"/>
                <a:ea typeface="Aptos"/>
                <a:cs typeface="Aptos"/>
              </a:rPr>
              <a:t>Memory release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3C6686-2716-4102-A5E6-3537C49F1D9E}"/>
              </a:ext>
            </a:extLst>
          </p:cNvPr>
          <p:cNvSpPr>
            <a:spLocks noGrp="1"/>
          </p:cNvSpPr>
          <p:nvPr/>
        </p:nvSpPr>
        <p:spPr>
          <a:xfrm>
            <a:off x="3762375" y="5353050"/>
            <a:ext cx="752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Every removed node must be passed to free().</a:t>
            </a:r>
          </a:p>
        </p:txBody>
      </p:sp>
    </p:spTree>
    <p:extLst>
      <p:ext uri="{BB962C8B-B14F-4D97-AF65-F5344CB8AC3E}">
        <p14:creationId xmlns:p14="http://schemas.microsoft.com/office/powerpoint/2010/main" val="757807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0A0D93E-8E80-419B-A183-64A39111047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STRUCTURE OF THE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BFDC4-092A-40B2-A809-1B4776B61C43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722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C program mirrors the operations we already traced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1140F56-4F8D-4D1D-BD93-EE767B22A133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B23AA-5F09-4375-A60F-4285A7FA1098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9E9B55-804D-4A72-953C-E0C17642E7B8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CD3F53-6E71-48F0-AB2F-707FAA9EBB1D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 Headers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0618BD-C06A-48B8-8940-A5F0A718DA5F}"/>
              </a:ext>
            </a:extLst>
          </p:cNvPr>
          <p:cNvSpPr>
            <a:spLocks noGrp="1"/>
          </p:cNvSpPr>
          <p:nvPr/>
        </p:nvSpPr>
        <p:spPr>
          <a:xfrm>
            <a:off x="4381500" y="138112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 Node definition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DDA835-0064-4E07-A6B7-54E6BA01C1C5}"/>
              </a:ext>
            </a:extLst>
          </p:cNvPr>
          <p:cNvSpPr>
            <a:spLocks noGrp="1"/>
          </p:cNvSpPr>
          <p:nvPr/>
        </p:nvSpPr>
        <p:spPr>
          <a:xfrm>
            <a:off x="8172450" y="138112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 Front + Rear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296A02-0151-4EF9-84E6-6BF525D71E28}"/>
              </a:ext>
            </a:extLst>
          </p:cNvPr>
          <p:cNvSpPr>
            <a:spLocks noGrp="1"/>
          </p:cNvSpPr>
          <p:nvPr/>
        </p:nvSpPr>
        <p:spPr>
          <a:xfrm>
            <a:off x="590550" y="216217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4.  enqueue()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AE5234-23D0-45D1-9E47-59C5C0F5F076}"/>
              </a:ext>
            </a:extLst>
          </p:cNvPr>
          <p:cNvSpPr>
            <a:spLocks noGrp="1"/>
          </p:cNvSpPr>
          <p:nvPr/>
        </p:nvSpPr>
        <p:spPr>
          <a:xfrm>
            <a:off x="4381500" y="216217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5.  dequeue()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AA045C-5817-4DD1-B333-0E565B834E97}"/>
              </a:ext>
            </a:extLst>
          </p:cNvPr>
          <p:cNvSpPr>
            <a:spLocks noGrp="1"/>
          </p:cNvSpPr>
          <p:nvPr/>
        </p:nvSpPr>
        <p:spPr>
          <a:xfrm>
            <a:off x="8172450" y="216217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6.  peek()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F08A03-4856-4639-A38C-43D03D1C7430}"/>
              </a:ext>
            </a:extLst>
          </p:cNvPr>
          <p:cNvSpPr>
            <a:spLocks noGrp="1"/>
          </p:cNvSpPr>
          <p:nvPr/>
        </p:nvSpPr>
        <p:spPr>
          <a:xfrm>
            <a:off x="590550" y="294322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7.  display()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6291D9-C39A-46D0-A1BC-9077A9419CC7}"/>
              </a:ext>
            </a:extLst>
          </p:cNvPr>
          <p:cNvSpPr>
            <a:spLocks noGrp="1"/>
          </p:cNvSpPr>
          <p:nvPr/>
        </p:nvSpPr>
        <p:spPr>
          <a:xfrm>
            <a:off x="4381500" y="294322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8.  main() menu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4985F0-7565-4462-8454-4FFF58B008CC}"/>
              </a:ext>
            </a:extLst>
          </p:cNvPr>
          <p:cNvSpPr>
            <a:spLocks noGrp="1"/>
          </p:cNvSpPr>
          <p:nvPr/>
        </p:nvSpPr>
        <p:spPr>
          <a:xfrm>
            <a:off x="8172450" y="2943225"/>
            <a:ext cx="34290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9.  cleanup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72A1D1-497F-4F65-9469-71B7807C2DF7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MENU CONTROL FLOW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0924DB-CBA2-48B7-B15B-14C307CB7C50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2190750" cy="1000125"/>
          </a:xfrm>
          <a:prstGeom prst="roundRect">
            <a:avLst>
              <a:gd name="adj" fmla="val 15238"/>
            </a:avLst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 user's</a:t>
            </a:r>
          </a:p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menu choice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013349-DCA9-4843-A83F-220798CDF166}"/>
              </a:ext>
            </a:extLst>
          </p:cNvPr>
          <p:cNvSpPr>
            <a:spLocks noGrp="1"/>
          </p:cNvSpPr>
          <p:nvPr/>
        </p:nvSpPr>
        <p:spPr>
          <a:xfrm>
            <a:off x="3524250" y="4362450"/>
            <a:ext cx="219075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 → enqueue()</a:t>
            </a:r>
          </a:p>
        </p:txBody>
      </p:sp>
      <p:cxnSp>
        <p:nvCxnSpPr>
          <p:cNvPr id="44" name="Connector: Elbow 43"/>
          <p:cNvCxnSpPr>
            <a:stCxn id="16" idx="3"/>
            <a:endCxn id="17" idx="1"/>
          </p:cNvCxnSpPr>
          <p:nvPr/>
        </p:nvCxnSpPr>
        <p:spPr>
          <a:xfrm flipV="1">
            <a:off x="2857500" y="4657725"/>
            <a:ext cx="666750" cy="376238"/>
          </a:xfrm>
          <a:prstGeom prst="bentConnector3">
            <a:avLst>
              <a:gd name="adj1" fmla="val 50000"/>
            </a:avLst>
          </a:prstGeom>
          <a:ln w="19050">
            <a:solidFill>
              <a:srgbClr val="C8D4E3"/>
            </a:solidFill>
            <a:prstDash val="solid"/>
            <a:tailEnd type="arrow" w="sm" len="sm"/>
          </a:ln>
        </p:spPr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85B0EB-7F4D-4120-8FAF-F0A1EC7CCC73}"/>
              </a:ext>
            </a:extLst>
          </p:cNvPr>
          <p:cNvSpPr>
            <a:spLocks noGrp="1"/>
          </p:cNvSpPr>
          <p:nvPr/>
        </p:nvSpPr>
        <p:spPr>
          <a:xfrm>
            <a:off x="6096000" y="4362450"/>
            <a:ext cx="219075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 → dequeue()</a:t>
            </a:r>
          </a:p>
        </p:txBody>
      </p:sp>
      <p:cxnSp>
        <p:nvCxnSpPr>
          <p:cNvPr id="46" name="Connector: Elbow 45"/>
          <p:cNvCxnSpPr>
            <a:stCxn id="16" idx="3"/>
            <a:endCxn id="19" idx="1"/>
          </p:cNvCxnSpPr>
          <p:nvPr/>
        </p:nvCxnSpPr>
        <p:spPr>
          <a:xfrm flipV="1">
            <a:off x="2857500" y="4657725"/>
            <a:ext cx="3238500" cy="409575"/>
          </a:xfrm>
          <a:prstGeom prst="bentConnector4">
            <a:avLst/>
          </a:prstGeom>
          <a:ln w="19050">
            <a:solidFill>
              <a:srgbClr val="C8D4E3"/>
            </a:solidFill>
            <a:prstDash val="solid"/>
            <a:tailEnd type="arrow" w="sm" len="sm"/>
          </a:ln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54D323-6477-4A1E-A6F2-D867312F5D26}"/>
              </a:ext>
            </a:extLst>
          </p:cNvPr>
          <p:cNvSpPr>
            <a:spLocks noGrp="1"/>
          </p:cNvSpPr>
          <p:nvPr/>
        </p:nvSpPr>
        <p:spPr>
          <a:xfrm>
            <a:off x="8667750" y="4362450"/>
            <a:ext cx="219075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 → peek()</a:t>
            </a:r>
          </a:p>
        </p:txBody>
      </p:sp>
      <p:cxnSp>
        <p:nvCxnSpPr>
          <p:cNvPr id="48" name="Connector: Elbow 47"/>
          <p:cNvCxnSpPr>
            <a:stCxn id="16" idx="3"/>
            <a:endCxn id="21" idx="1"/>
          </p:cNvCxnSpPr>
          <p:nvPr/>
        </p:nvCxnSpPr>
        <p:spPr>
          <a:xfrm flipV="1">
            <a:off x="2857500" y="4657725"/>
            <a:ext cx="5810250" cy="409575"/>
          </a:xfrm>
          <a:prstGeom prst="bentConnector4">
            <a:avLst/>
          </a:prstGeom>
          <a:ln w="19050">
            <a:solidFill>
              <a:srgbClr val="C8D4E3"/>
            </a:solidFill>
            <a:prstDash val="solid"/>
            <a:tailEnd type="arrow" w="sm" len="sm"/>
          </a:ln>
        </p:spPr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698DA41-768F-4D37-A38C-56A3A0CFA930}"/>
              </a:ext>
            </a:extLst>
          </p:cNvPr>
          <p:cNvSpPr>
            <a:spLocks noGrp="1"/>
          </p:cNvSpPr>
          <p:nvPr/>
        </p:nvSpPr>
        <p:spPr>
          <a:xfrm>
            <a:off x="3524250" y="5267325"/>
            <a:ext cx="219075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 → display()</a:t>
            </a:r>
          </a:p>
        </p:txBody>
      </p:sp>
      <p:cxnSp>
        <p:nvCxnSpPr>
          <p:cNvPr id="50" name="Connector: Elbow 49"/>
          <p:cNvCxnSpPr>
            <a:stCxn id="16" idx="3"/>
            <a:endCxn id="23" idx="1"/>
          </p:cNvCxnSpPr>
          <p:nvPr/>
        </p:nvCxnSpPr>
        <p:spPr>
          <a:xfrm>
            <a:off x="2857500" y="5033963"/>
            <a:ext cx="666750" cy="528638"/>
          </a:xfrm>
          <a:prstGeom prst="bentConnector3">
            <a:avLst>
              <a:gd name="adj1" fmla="val 50000"/>
            </a:avLst>
          </a:prstGeom>
          <a:ln w="19050">
            <a:solidFill>
              <a:srgbClr val="C8D4E3"/>
            </a:solidFill>
            <a:prstDash val="solid"/>
            <a:tailEnd type="arrow" w="sm" len="sm"/>
          </a:ln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087789-0F9C-467F-A7D6-00DCD92D89BB}"/>
              </a:ext>
            </a:extLst>
          </p:cNvPr>
          <p:cNvSpPr>
            <a:spLocks noGrp="1"/>
          </p:cNvSpPr>
          <p:nvPr/>
        </p:nvSpPr>
        <p:spPr>
          <a:xfrm>
            <a:off x="6096000" y="5267325"/>
            <a:ext cx="219075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4288">
            <a:solidFill>
              <a:srgbClr val="D645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50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5 → exit</a:t>
            </a:r>
          </a:p>
        </p:txBody>
      </p:sp>
      <p:cxnSp>
        <p:nvCxnSpPr>
          <p:cNvPr id="52" name="Connector: Elbow 51"/>
          <p:cNvCxnSpPr>
            <a:stCxn id="16" idx="3"/>
            <a:endCxn id="25" idx="1"/>
          </p:cNvCxnSpPr>
          <p:nvPr/>
        </p:nvCxnSpPr>
        <p:spPr>
          <a:xfrm>
            <a:off x="2857500" y="5033963"/>
            <a:ext cx="3238500" cy="528638"/>
          </a:xfrm>
          <a:prstGeom prst="bentConnector5">
            <a:avLst>
              <a:gd name="adj1" fmla="val 7059"/>
              <a:gd name="adj2" fmla="val 22523"/>
              <a:gd name="adj3" fmla="val 92941"/>
            </a:avLst>
          </a:prstGeom>
          <a:ln w="19050">
            <a:solidFill>
              <a:srgbClr val="C8D4E3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657244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4C864A7-94C3-4211-B794-859979D3415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EXECUTABLE STANDARD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DF5B42-2AA5-4A36-A21A-C0D68C35223A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 code: headers, Node and queue pointers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8CF742B-F497-4843-94CF-68ABE179A24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021BB-3A18-4DC1-9E90-E83402D5BA26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4FBC91-5046-4039-8EF6-F1C39CB41A28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6D1917-8C23-42F6-B7A9-41691EF4346D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0" cy="4762500"/>
          </a:xfrm>
          <a:prstGeom prst="roundRect">
            <a:avLst>
              <a:gd name="adj" fmla="val 2800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399DB-4563-4706-9F6A-BA1D8B5963D5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6324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LINES 1–12 • representation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2E9D5-5C19-4312-B436-E9CDB596B013}"/>
              </a:ext>
            </a:extLst>
          </p:cNvPr>
          <p:cNvSpPr>
            <a:spLocks noGrp="1"/>
          </p:cNvSpPr>
          <p:nvPr/>
        </p:nvSpPr>
        <p:spPr>
          <a:xfrm>
            <a:off x="838200" y="1733550"/>
            <a:ext cx="6324600" cy="424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#include &lt;stdio.h&gt;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#include &lt;stdlib.h&gt;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typedef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struct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Node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data;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struct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Node *next;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} Node;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static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Node *front 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static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Node *rear 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clearQueue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4507CA-029C-4D6B-AC0D-B592C6F77CB2}"/>
              </a:ext>
            </a:extLst>
          </p:cNvPr>
          <p:cNvSpPr>
            <a:spLocks noGrp="1"/>
          </p:cNvSpPr>
          <p:nvPr/>
        </p:nvSpPr>
        <p:spPr>
          <a:xfrm>
            <a:off x="7667625" y="1333500"/>
            <a:ext cx="3905250" cy="4762500"/>
          </a:xfrm>
          <a:prstGeom prst="roundRect">
            <a:avLst>
              <a:gd name="adj" fmla="val 4390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0F009B-4975-4D09-B765-5AA8B62204EB}"/>
              </a:ext>
            </a:extLst>
          </p:cNvPr>
          <p:cNvSpPr>
            <a:spLocks noGrp="1"/>
          </p:cNvSpPr>
          <p:nvPr/>
        </p:nvSpPr>
        <p:spPr>
          <a:xfrm>
            <a:off x="8001000" y="1666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9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Why these declarations?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8BF31-AEAF-4798-AC81-2F77BFB5E21B}"/>
              </a:ext>
            </a:extLst>
          </p:cNvPr>
          <p:cNvSpPr>
            <a:spLocks noGrp="1"/>
          </p:cNvSpPr>
          <p:nvPr/>
        </p:nvSpPr>
        <p:spPr>
          <a:xfrm>
            <a:off x="8048625" y="2381250"/>
            <a:ext cx="3095625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&lt;stdlib.h&gt; declares malloc() and free().</a:t>
            </a:r>
          </a:p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Node stores data and the next address.</a:t>
            </a:r>
          </a:p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Front and Rear begin as NULL.</a:t>
            </a:r>
          </a:p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The cleanup prototype allows main() to call clearQueue().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53D025-D24F-42EF-B348-E55B40A5B70B}"/>
              </a:ext>
            </a:extLst>
          </p:cNvPr>
          <p:cNvSpPr>
            <a:spLocks noGrp="1"/>
          </p:cNvSpPr>
          <p:nvPr/>
        </p:nvSpPr>
        <p:spPr>
          <a:xfrm>
            <a:off x="8048625" y="5219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2364"/>
          </a:bodyPr>
          <a:lstStyle/>
          <a:p>
            <a:pPr algn="ctr">
              <a:defRPr sz="1575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Representation first; operations follow.</a:t>
            </a:r>
          </a:p>
        </p:txBody>
      </p:sp>
    </p:spTree>
    <p:extLst>
      <p:ext uri="{BB962C8B-B14F-4D97-AF65-F5344CB8AC3E}">
        <p14:creationId xmlns:p14="http://schemas.microsoft.com/office/powerpoint/2010/main" val="1139453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605EBB2-D2D4-4F6F-95B1-01EBC3E07DF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EXECUTABLE STANDARD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C5186A-AD9B-4450-AF9B-7C5683F01798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 code: complete enqueue() function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877F2C3-5AC9-4C8A-BB0C-B928A819FFEC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CE5AE-5D44-402D-A913-2BC5C6B813B7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AFF7B-2575-4688-A425-85C7A7FF1797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03FE70-F0CF-45C3-A86F-4534CE99F219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7239000" cy="5048250"/>
          </a:xfrm>
          <a:prstGeom prst="roundRect">
            <a:avLst>
              <a:gd name="adj" fmla="val 2642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57C72-0583-4D47-8C9F-3F8A22ADB27D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689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LINES 13–31 • allocate, link and move Rear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0B2CF3-E592-4D07-910E-F619ED512916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6896100" cy="453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item)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Node *newNode =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malloc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sizeof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*newNode);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(newNode ==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"Queue overflow: memory allocation failed.\n"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return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newNode-&gt;data = item;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newNode-&gt;next 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(rear ==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front = newNode;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rear = newNode;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else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rear-&gt;next = newNode;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rear = newNode;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"%d enqueued.\n"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, item);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30699E-59C8-44C3-A602-E19ACF76623C}"/>
              </a:ext>
            </a:extLst>
          </p:cNvPr>
          <p:cNvSpPr>
            <a:spLocks noGrp="1"/>
          </p:cNvSpPr>
          <p:nvPr/>
        </p:nvSpPr>
        <p:spPr>
          <a:xfrm>
            <a:off x="8143875" y="1238250"/>
            <a:ext cx="3429000" cy="504825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7F867-D308-4146-A071-597AE70DA6D1}"/>
              </a:ext>
            </a:extLst>
          </p:cNvPr>
          <p:cNvSpPr>
            <a:spLocks noGrp="1"/>
          </p:cNvSpPr>
          <p:nvPr/>
        </p:nvSpPr>
        <p:spPr>
          <a:xfrm>
            <a:off x="8372475" y="1562100"/>
            <a:ext cx="297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048B42-FCF4-4E2E-930A-5C885830E72F}"/>
              </a:ext>
            </a:extLst>
          </p:cNvPr>
          <p:cNvSpPr>
            <a:spLocks noGrp="1"/>
          </p:cNvSpPr>
          <p:nvPr/>
        </p:nvSpPr>
        <p:spPr>
          <a:xfrm>
            <a:off x="8429625" y="2238375"/>
            <a:ext cx="2857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/>
          </a:bodyPr>
          <a:lstStyle/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Allocate and check newNode.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Store data; set next to NULL.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Empty: set Front and Rear.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Otherwise: link, then move Rear.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F10012-8BB2-45EE-8AA4-B71BA9E67448}"/>
              </a:ext>
            </a:extLst>
          </p:cNvPr>
          <p:cNvSpPr>
            <a:spLocks noGrp="1"/>
          </p:cNvSpPr>
          <p:nvPr/>
        </p:nvSpPr>
        <p:spPr>
          <a:xfrm>
            <a:off x="8429625" y="53340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Front changes only for the first node.</a:t>
            </a:r>
          </a:p>
        </p:txBody>
      </p:sp>
    </p:spTree>
    <p:extLst>
      <p:ext uri="{BB962C8B-B14F-4D97-AF65-F5344CB8AC3E}">
        <p14:creationId xmlns:p14="http://schemas.microsoft.com/office/powerpoint/2010/main" val="1032011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297281F-282D-474A-BAE9-7C00CA287E81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EXECUTABLE STANDARD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A762F-ED59-46F3-BFB0-D8A69353B6C6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Dequeue: move Front and release memory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310D77A-28D4-4738-8288-9DE9CFFA2279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4804C-1654-4779-ACA6-FEAC9918EF97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1FD4A-189A-4334-8087-568802732957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E31AAF-8CD5-4096-9FA9-468ACBD9FA3B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7239000" cy="5048250"/>
          </a:xfrm>
          <a:prstGeom prst="roundRect">
            <a:avLst>
              <a:gd name="adj" fmla="val 2642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6D9B9F-8B8B-4550-A493-09A7DE27EA67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689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dequeue() • complete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05E0CE-73A0-4F57-9E14-C9089ECAB2F3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6896100" cy="453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dequeue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Node *temp;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removedValue;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(front ==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"Queue underflow: queue is empty.\n"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return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temp = front;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removedValue = temp-&gt;data;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front = front-&gt;next;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(front ==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rear 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free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(temp);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"%d dequeued.\n"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, removedValue);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46829D-D8CD-4C3C-A3FE-4CE9A2253769}"/>
              </a:ext>
            </a:extLst>
          </p:cNvPr>
          <p:cNvSpPr>
            <a:spLocks noGrp="1"/>
          </p:cNvSpPr>
          <p:nvPr/>
        </p:nvSpPr>
        <p:spPr>
          <a:xfrm>
            <a:off x="8143875" y="1238250"/>
            <a:ext cx="3429000" cy="504825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4288">
            <a:solidFill>
              <a:srgbClr val="D645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558B98-4B4C-49C6-B5D4-36D5B865C1BF}"/>
              </a:ext>
            </a:extLst>
          </p:cNvPr>
          <p:cNvSpPr>
            <a:spLocks noGrp="1"/>
          </p:cNvSpPr>
          <p:nvPr/>
        </p:nvSpPr>
        <p:spPr>
          <a:xfrm>
            <a:off x="8429625" y="1666875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7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Four lines to defend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080A72-60F9-4F87-88D0-51F8B4F07B23}"/>
              </a:ext>
            </a:extLst>
          </p:cNvPr>
          <p:cNvSpPr>
            <a:spLocks noGrp="1"/>
          </p:cNvSpPr>
          <p:nvPr/>
        </p:nvSpPr>
        <p:spPr>
          <a:xfrm>
            <a:off x="8620125" y="2333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temp = front;</a:t>
            </a:r>
          </a:p>
          <a:p>
            <a:endParaRPr sz="1875" b="1">
              <a:solidFill>
                <a:srgbClr val="102A43"/>
              </a:solidFill>
              <a:latin typeface="Aptos Mono"/>
              <a:ea typeface="Aptos Mono"/>
              <a:cs typeface="Aptos Mono"/>
            </a:endParaRPr>
          </a:p>
          <a:p>
            <a:pPr algn="ctr">
              <a:defRPr sz="187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front = front-&gt;next;</a:t>
            </a:r>
          </a:p>
          <a:p>
            <a:endParaRPr sz="1875" b="1">
              <a:solidFill>
                <a:srgbClr val="102A43"/>
              </a:solidFill>
              <a:latin typeface="Aptos Mono"/>
              <a:ea typeface="Aptos Mono"/>
              <a:cs typeface="Aptos Mono"/>
            </a:endParaRPr>
          </a:p>
          <a:p>
            <a:pPr algn="ctr">
              <a:defRPr sz="187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rear = NULL;</a:t>
            </a:r>
          </a:p>
          <a:p>
            <a:endParaRPr sz="1875" b="1">
              <a:solidFill>
                <a:srgbClr val="102A43"/>
              </a:solidFill>
              <a:latin typeface="Aptos Mono"/>
              <a:ea typeface="Aptos Mono"/>
              <a:cs typeface="Aptos Mono"/>
            </a:endParaRPr>
          </a:p>
          <a:p>
            <a:pPr algn="ctr">
              <a:defRPr sz="187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free(temp);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C4D01-5C1B-4544-BC87-6EC65266FAC3}"/>
              </a:ext>
            </a:extLst>
          </p:cNvPr>
          <p:cNvSpPr>
            <a:spLocks noGrp="1"/>
          </p:cNvSpPr>
          <p:nvPr/>
        </p:nvSpPr>
        <p:spPr>
          <a:xfrm>
            <a:off x="8429625" y="52387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Save → move → reset if empty → release</a:t>
            </a:r>
          </a:p>
        </p:txBody>
      </p:sp>
    </p:spTree>
    <p:extLst>
      <p:ext uri="{BB962C8B-B14F-4D97-AF65-F5344CB8AC3E}">
        <p14:creationId xmlns:p14="http://schemas.microsoft.com/office/powerpoint/2010/main" val="1254998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8E93998-1F77-4BA2-A465-8BA27CE28FA3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EXECUTABLE STANDARD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354F9-E04C-41CA-9FD6-BC6FC67CD59D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Peek and Display: complete C functions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DFA9D19-3DE4-451E-B276-7E9756E968E8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B40FDA-1F6E-4DCA-97D6-9902B4E53AF3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09FEFE-1EE6-4C4E-9575-F0DDBDD2D0E3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575D12-EA3E-4D55-A260-D7B081243E40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4191000" cy="4429125"/>
          </a:xfrm>
          <a:prstGeom prst="roundRect">
            <a:avLst>
              <a:gd name="adj" fmla="val 3182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8EE11-42FA-44D7-AB96-38D25748E755}"/>
              </a:ext>
            </a:extLst>
          </p:cNvPr>
          <p:cNvSpPr>
            <a:spLocks noGrp="1"/>
          </p:cNvSpPr>
          <p:nvPr/>
        </p:nvSpPr>
        <p:spPr>
          <a:xfrm>
            <a:off x="695325" y="1428750"/>
            <a:ext cx="3848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peek() • reads Front only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9D86BE-5A98-419E-A73E-5CC743EE94E9}"/>
              </a:ext>
            </a:extLst>
          </p:cNvPr>
          <p:cNvSpPr>
            <a:spLocks noGrp="1"/>
          </p:cNvSpPr>
          <p:nvPr/>
        </p:nvSpPr>
        <p:spPr>
          <a:xfrm>
            <a:off x="695325" y="1733550"/>
            <a:ext cx="3848100" cy="391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peek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(front ==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"Queue is empty.\n"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return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"Front element: %d\n"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, front-&gt;data);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B7212-7F7F-4152-A746-633DAF1C31E0}"/>
              </a:ext>
            </a:extLst>
          </p:cNvPr>
          <p:cNvSpPr>
            <a:spLocks noGrp="1"/>
          </p:cNvSpPr>
          <p:nvPr/>
        </p:nvSpPr>
        <p:spPr>
          <a:xfrm>
            <a:off x="4953000" y="1333500"/>
            <a:ext cx="6667500" cy="4429125"/>
          </a:xfrm>
          <a:prstGeom prst="roundRect">
            <a:avLst>
              <a:gd name="adj" fmla="val 3011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199996-F4B9-4F30-B721-1901E9CD2DF9}"/>
              </a:ext>
            </a:extLst>
          </p:cNvPr>
          <p:cNvSpPr>
            <a:spLocks noGrp="1"/>
          </p:cNvSpPr>
          <p:nvPr/>
        </p:nvSpPr>
        <p:spPr>
          <a:xfrm>
            <a:off x="5124450" y="1428750"/>
            <a:ext cx="6324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display() • current traverses to NULL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68D215-84EC-49B0-B5D2-DFC9FF747056}"/>
              </a:ext>
            </a:extLst>
          </p:cNvPr>
          <p:cNvSpPr>
            <a:spLocks noGrp="1"/>
          </p:cNvSpPr>
          <p:nvPr/>
        </p:nvSpPr>
        <p:spPr>
          <a:xfrm>
            <a:off x="5124450" y="1733550"/>
            <a:ext cx="6324600" cy="391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display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Node *current;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(front ==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"Queue is empty.\n"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return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current = front;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"Queue: 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while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(current !=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"%d"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, current-&gt;data);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(current-&gt;next !=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 -&gt; 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current = current-&gt;next;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"\n"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B64536-4B79-4178-9D9D-35BDEFCE10A2}"/>
              </a:ext>
            </a:extLst>
          </p:cNvPr>
          <p:cNvSpPr>
            <a:spLocks noGrp="1"/>
          </p:cNvSpPr>
          <p:nvPr/>
        </p:nvSpPr>
        <p:spPr>
          <a:xfrm>
            <a:off x="523875" y="5857875"/>
            <a:ext cx="4191000" cy="476250"/>
          </a:xfrm>
          <a:prstGeom prst="roundRect">
            <a:avLst>
              <a:gd name="adj" fmla="val 24000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E34B7-A049-4D4B-9C0D-1C1729109C42}"/>
              </a:ext>
            </a:extLst>
          </p:cNvPr>
          <p:cNvSpPr>
            <a:spLocks noGrp="1"/>
          </p:cNvSpPr>
          <p:nvPr/>
        </p:nvSpPr>
        <p:spPr>
          <a:xfrm>
            <a:off x="638175" y="592455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SPEAKER CUE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4984C1-4227-4921-A7DE-435442A0B464}"/>
              </a:ext>
            </a:extLst>
          </p:cNvPr>
          <p:cNvSpPr>
            <a:spLocks noGrp="1"/>
          </p:cNvSpPr>
          <p:nvPr/>
        </p:nvSpPr>
        <p:spPr>
          <a:xfrm>
            <a:off x="1828800" y="5915025"/>
            <a:ext cx="2752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 empty; then read front-&gt;data. No pointer moves.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0571E7-F7DC-4374-8EB2-0A9927896916}"/>
              </a:ext>
            </a:extLst>
          </p:cNvPr>
          <p:cNvSpPr>
            <a:spLocks noGrp="1"/>
          </p:cNvSpPr>
          <p:nvPr/>
        </p:nvSpPr>
        <p:spPr>
          <a:xfrm>
            <a:off x="4953000" y="5857875"/>
            <a:ext cx="6667500" cy="476250"/>
          </a:xfrm>
          <a:prstGeom prst="roundRect">
            <a:avLst>
              <a:gd name="adj" fmla="val 24000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6059ED-2995-4F95-BAB1-EB4527CCC83C}"/>
              </a:ext>
            </a:extLst>
          </p:cNvPr>
          <p:cNvSpPr>
            <a:spLocks noGrp="1"/>
          </p:cNvSpPr>
          <p:nvPr/>
        </p:nvSpPr>
        <p:spPr>
          <a:xfrm>
            <a:off x="5067300" y="592455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SPEAKER CUE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7B4F9D-6AF5-47BB-AF25-FF078B924C73}"/>
              </a:ext>
            </a:extLst>
          </p:cNvPr>
          <p:cNvSpPr>
            <a:spLocks noGrp="1"/>
          </p:cNvSpPr>
          <p:nvPr/>
        </p:nvSpPr>
        <p:spPr>
          <a:xfrm>
            <a:off x="6257925" y="5915025"/>
            <a:ext cx="5229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Move current—not Front—until current reaches NULL.</a:t>
            </a:r>
          </a:p>
        </p:txBody>
      </p:sp>
    </p:spTree>
    <p:extLst>
      <p:ext uri="{BB962C8B-B14F-4D97-AF65-F5344CB8AC3E}">
        <p14:creationId xmlns:p14="http://schemas.microsoft.com/office/powerpoint/2010/main" val="1806788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91C1802-D062-4A5B-9C71-A9C6F1C2B09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EXECUTABLE STANDARD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7FF8DB-8C83-4446-9341-4B09F49866EE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main(): menu and input validation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E168526-881C-4ED7-82E1-89D6E49F4146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8DA56D-9728-45B7-A139-E57674CEDD2B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FED40-946E-4EB5-ABCA-DE2461E5BE45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733D80-8B8C-4625-8190-B7B7E1E9775B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7239000" cy="4762500"/>
          </a:xfrm>
          <a:prstGeom prst="roundRect">
            <a:avLst>
              <a:gd name="adj" fmla="val 2800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70D37F-7F7D-450D-9539-8ABCF1108197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689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main() • declarations, menu and input 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BED05-5A2E-4781-9B00-0DC3DF0FF2DD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6896100" cy="424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main(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choice;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int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item;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do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"\n1. Enqueue\n2. Dequeue\n"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"3. Peek\n4. Display\n5. Exit\n"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"Enter choice: 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scanf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"%d"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, &amp;choice) !=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puts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"Invalid input. Exiting."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clearQueue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return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switch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(choice) {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E43DCC-6687-4D23-B77C-909953EC632A}"/>
              </a:ext>
            </a:extLst>
          </p:cNvPr>
          <p:cNvSpPr>
            <a:spLocks noGrp="1"/>
          </p:cNvSpPr>
          <p:nvPr/>
        </p:nvSpPr>
        <p:spPr>
          <a:xfrm>
            <a:off x="8143875" y="1333500"/>
            <a:ext cx="3429000" cy="476250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25FF3E-B358-43FC-BC0B-6D923F00646A}"/>
              </a:ext>
            </a:extLst>
          </p:cNvPr>
          <p:cNvSpPr>
            <a:spLocks noGrp="1"/>
          </p:cNvSpPr>
          <p:nvPr/>
        </p:nvSpPr>
        <p:spPr>
          <a:xfrm>
            <a:off x="8372475" y="1657350"/>
            <a:ext cx="297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Guide the class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7B590A-6193-4799-8BE4-5991804439EB}"/>
              </a:ext>
            </a:extLst>
          </p:cNvPr>
          <p:cNvSpPr>
            <a:spLocks noGrp="1"/>
          </p:cNvSpPr>
          <p:nvPr/>
        </p:nvSpPr>
        <p:spPr>
          <a:xfrm>
            <a:off x="8429625" y="2333625"/>
            <a:ext cx="2857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/>
          </a:bodyPr>
          <a:lstStyle/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do...while prints the menu at least once.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scanf returns 1 when it reads an integer.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Bad input triggers cleanup before exit.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C59C5B-0A77-44B0-A241-1105A324C49E}"/>
              </a:ext>
            </a:extLst>
          </p:cNvPr>
          <p:cNvSpPr>
            <a:spLocks noGrp="1"/>
          </p:cNvSpPr>
          <p:nvPr/>
        </p:nvSpPr>
        <p:spPr>
          <a:xfrm>
            <a:off x="8429625" y="51435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The switch continues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39679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7FC940-F053-4072-A248-B96D7DC9100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EXECUTABLE STANDARD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F893E-CDB9-4F90-A8EE-AAC97C8651BD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main(): complete switch cases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804A376-81A7-4AEB-98DD-C24B2AA7922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FDFBB-28DB-4B7C-B475-A673B5EF8749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2DB2D3-FBD2-4687-B835-AB7FAF5FFFCA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A895E0-E96A-4FDA-BFC4-B52BB6788A15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7239000" cy="5048250"/>
          </a:xfrm>
          <a:prstGeom prst="roundRect">
            <a:avLst>
              <a:gd name="adj" fmla="val 2642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EF693-8674-49C7-BFFD-D6943676E699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689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switch (choice) • complete cases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C27B2D-029A-47AE-A750-76AD1AEABBDA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6896100" cy="453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case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"Enter value: 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scanf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"%d"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, &amp;item) !=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puts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"Invalid value. Exiting."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clearQueue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return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}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else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(item);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break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case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: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dequeue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();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break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case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3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: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peek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();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break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case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4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: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display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();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break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case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5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: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break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default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puts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"Invalid choice. Try again."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while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(choice !=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5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DC96EC-635C-499A-9D72-C518E45E0599}"/>
              </a:ext>
            </a:extLst>
          </p:cNvPr>
          <p:cNvSpPr>
            <a:spLocks noGrp="1"/>
          </p:cNvSpPr>
          <p:nvPr/>
        </p:nvSpPr>
        <p:spPr>
          <a:xfrm>
            <a:off x="8143875" y="1238250"/>
            <a:ext cx="3429000" cy="504825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7D5D96-A54A-44AA-894F-279C9FCECEFB}"/>
              </a:ext>
            </a:extLst>
          </p:cNvPr>
          <p:cNvSpPr>
            <a:spLocks noGrp="1"/>
          </p:cNvSpPr>
          <p:nvPr/>
        </p:nvSpPr>
        <p:spPr>
          <a:xfrm>
            <a:off x="8372475" y="1562100"/>
            <a:ext cx="297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Follow one choice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FFA052-53F8-4FBA-BC99-D94C6FAFA593}"/>
              </a:ext>
            </a:extLst>
          </p:cNvPr>
          <p:cNvSpPr>
            <a:spLocks noGrp="1"/>
          </p:cNvSpPr>
          <p:nvPr/>
        </p:nvSpPr>
        <p:spPr>
          <a:xfrm>
            <a:off x="8429625" y="2238375"/>
            <a:ext cx="2857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/>
          </a:bodyPr>
          <a:lstStyle/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Case 1 reads an item and enqueues it.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Cases 2–4 call one queue operation.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Case 5 lets the loop condition fail.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default handles every other number.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B41E13-8844-40E9-87F7-52A8B33FCF12}"/>
              </a:ext>
            </a:extLst>
          </p:cNvPr>
          <p:cNvSpPr>
            <a:spLocks noGrp="1"/>
          </p:cNvSpPr>
          <p:nvPr/>
        </p:nvSpPr>
        <p:spPr>
          <a:xfrm>
            <a:off x="8429625" y="53340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One menu choice → one operation.</a:t>
            </a:r>
          </a:p>
        </p:txBody>
      </p:sp>
    </p:spTree>
    <p:extLst>
      <p:ext uri="{BB962C8B-B14F-4D97-AF65-F5344CB8AC3E}">
        <p14:creationId xmlns:p14="http://schemas.microsoft.com/office/powerpoint/2010/main" val="607617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A934F7-1B76-472E-85C8-88A19F4BB5F3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EXECUTABLE STANDARD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189F5-871F-4DE2-B38B-1301E73DC261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Exit cleanup: release all remaining nodes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CF80E70-EB7B-44B8-A986-8A78C8E70C7E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A6B87-981D-45D9-BEC3-A460D61EF367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DEC7D-7CD5-4096-850D-B7DEC9E71AC3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A420AA-2FCB-4FCE-B1B6-A750EF78136A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7239000" cy="466725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6ADF5-A401-4CD9-8D83-762F9D098ADB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689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main() finishes • clearQueue() releases remaining nodes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FB9797-05D1-4191-B691-5B5B98669C86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6896100" cy="415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/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clearQueue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puts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"Program terminated."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return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0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clearQueue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void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while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(front !=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) {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Node *temp = front;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front = front-&gt;next;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    </a:t>
            </a:r>
            <a:r>
              <a:rPr sz="1688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free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(temp);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}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   rear = </a:t>
            </a:r>
            <a:r>
              <a:rPr sz="1688" b="1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NULL</a:t>
            </a: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;</a:t>
            </a:r>
          </a:p>
          <a:p>
            <a:pPr>
              <a:defRPr sz="1688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88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03EC2E-C01E-45EE-A76A-E186BFB19493}"/>
              </a:ext>
            </a:extLst>
          </p:cNvPr>
          <p:cNvSpPr>
            <a:spLocks noGrp="1"/>
          </p:cNvSpPr>
          <p:nvPr/>
        </p:nvSpPr>
        <p:spPr>
          <a:xfrm>
            <a:off x="8143875" y="1333500"/>
            <a:ext cx="3429000" cy="466725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4884C6-AD51-4D42-94AC-6307DE188347}"/>
              </a:ext>
            </a:extLst>
          </p:cNvPr>
          <p:cNvSpPr>
            <a:spLocks noGrp="1"/>
          </p:cNvSpPr>
          <p:nvPr/>
        </p:nvSpPr>
        <p:spPr>
          <a:xfrm>
            <a:off x="8372475" y="1657350"/>
            <a:ext cx="2971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Why cleanup matters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0E338C-96C3-4734-89CA-E0197E54D363}"/>
              </a:ext>
            </a:extLst>
          </p:cNvPr>
          <p:cNvSpPr>
            <a:spLocks noGrp="1"/>
          </p:cNvSpPr>
          <p:nvPr/>
        </p:nvSpPr>
        <p:spPr>
          <a:xfrm>
            <a:off x="8429625" y="2333625"/>
            <a:ext cx="2857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/>
          </a:bodyPr>
          <a:lstStyle/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Save the old Front in temp.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Advance Front before freeing temp.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Repeat until Front becomes NULL.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116B23-BF19-49EB-99E5-FECB6FFCFDB3}"/>
              </a:ext>
            </a:extLst>
          </p:cNvPr>
          <p:cNvSpPr>
            <a:spLocks noGrp="1"/>
          </p:cNvSpPr>
          <p:nvPr/>
        </p:nvSpPr>
        <p:spPr>
          <a:xfrm>
            <a:off x="8429625" y="50482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rear = NULL restores the empty state.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12169-342A-4FC2-981B-4FEDAD289EF8}"/>
              </a:ext>
            </a:extLst>
          </p:cNvPr>
          <p:cNvSpPr>
            <a:spLocks noGrp="1"/>
          </p:cNvSpPr>
          <p:nvPr/>
        </p:nvSpPr>
        <p:spPr>
          <a:xfrm>
            <a:off x="1809750" y="6172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Copy 19a → 19b → 20a → 20b → 21a → 21b → 21c. No line is omitted.</a:t>
            </a:r>
          </a:p>
        </p:txBody>
      </p:sp>
    </p:spTree>
    <p:extLst>
      <p:ext uri="{BB962C8B-B14F-4D97-AF65-F5344CB8AC3E}">
        <p14:creationId xmlns:p14="http://schemas.microsoft.com/office/powerpoint/2010/main" val="1818798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F6151F8-3555-40C8-8877-A351BF1D71FA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TESTED CONSOLE RUN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84486-1FD1-4917-BEE6-A101788895EC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Sample execution matches the complete program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DACC72D-F04C-4E2D-9B68-153B0B848FCB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55661A-AE91-42A3-858F-D5411E8DD61D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480EA-75F0-4D00-9E14-E0EDD1E04263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1507D3-6BB2-4837-B9A8-F299ED34DBE4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3000375" cy="409575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81D28-D4F7-4C9F-9676-C7F72B917766}"/>
              </a:ext>
            </a:extLst>
          </p:cNvPr>
          <p:cNvSpPr>
            <a:spLocks noGrp="1"/>
          </p:cNvSpPr>
          <p:nvPr/>
        </p:nvSpPr>
        <p:spPr>
          <a:xfrm>
            <a:off x="695325" y="1428750"/>
            <a:ext cx="26574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270"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The menu is printed before every choice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F80470-4810-4C3F-B655-B1B5893E4D54}"/>
              </a:ext>
            </a:extLst>
          </p:cNvPr>
          <p:cNvSpPr>
            <a:spLocks noGrp="1"/>
          </p:cNvSpPr>
          <p:nvPr/>
        </p:nvSpPr>
        <p:spPr>
          <a:xfrm>
            <a:off x="695325" y="1733550"/>
            <a:ext cx="2657475" cy="3581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65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  <a:r>
              <a:rPr sz="165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. Enqueue</a:t>
            </a:r>
          </a:p>
          <a:p>
            <a:pPr>
              <a:defRPr sz="165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</a:t>
            </a:r>
            <a:r>
              <a:rPr sz="165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. Dequeue</a:t>
            </a:r>
          </a:p>
          <a:p>
            <a:pPr>
              <a:defRPr sz="165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3</a:t>
            </a:r>
            <a:r>
              <a:rPr sz="165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. Peek</a:t>
            </a:r>
          </a:p>
          <a:p>
            <a:pPr>
              <a:defRPr sz="165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4</a:t>
            </a:r>
            <a:r>
              <a:rPr sz="165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. Display</a:t>
            </a:r>
          </a:p>
          <a:p>
            <a:pPr>
              <a:defRPr sz="165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5</a:t>
            </a:r>
            <a:r>
              <a:rPr sz="165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. Exit</a:t>
            </a:r>
          </a:p>
          <a:p>
            <a:pPr>
              <a:defRPr sz="165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652A9F-2992-41CB-9D79-5367E75F1CE8}"/>
              </a:ext>
            </a:extLst>
          </p:cNvPr>
          <p:cNvSpPr>
            <a:spLocks noGrp="1"/>
          </p:cNvSpPr>
          <p:nvPr/>
        </p:nvSpPr>
        <p:spPr>
          <a:xfrm>
            <a:off x="3714750" y="1333500"/>
            <a:ext cx="3857625" cy="4429125"/>
          </a:xfrm>
          <a:prstGeom prst="roundRect">
            <a:avLst>
              <a:gd name="adj" fmla="val 3457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8B956-E070-4995-ADBE-429E6CCDE30C}"/>
              </a:ext>
            </a:extLst>
          </p:cNvPr>
          <p:cNvSpPr>
            <a:spLocks noGrp="1"/>
          </p:cNvSpPr>
          <p:nvPr/>
        </p:nvSpPr>
        <p:spPr>
          <a:xfrm>
            <a:off x="3886200" y="1428750"/>
            <a:ext cx="35147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Session • Enqueue, Display, Peek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F3D7CD-5CB1-4DAF-A6F1-31FAACD5B57E}"/>
              </a:ext>
            </a:extLst>
          </p:cNvPr>
          <p:cNvSpPr>
            <a:spLocks noGrp="1"/>
          </p:cNvSpPr>
          <p:nvPr/>
        </p:nvSpPr>
        <p:spPr>
          <a:xfrm>
            <a:off x="3886200" y="1733550"/>
            <a:ext cx="3514725" cy="391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value: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10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enqueued.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value: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20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enqueued.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value: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30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30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enqueued.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4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Queue: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-&gt;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-&gt;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30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3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Front element: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8C5E2D-30ED-455B-9F8A-67E849387D83}"/>
              </a:ext>
            </a:extLst>
          </p:cNvPr>
          <p:cNvSpPr>
            <a:spLocks noGrp="1"/>
          </p:cNvSpPr>
          <p:nvPr/>
        </p:nvSpPr>
        <p:spPr>
          <a:xfrm>
            <a:off x="7762875" y="1333500"/>
            <a:ext cx="3905250" cy="4429125"/>
          </a:xfrm>
          <a:prstGeom prst="roundRect">
            <a:avLst>
              <a:gd name="adj" fmla="val 341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C8D2A9-8A5B-42BF-A11E-BBC11287D0C4}"/>
              </a:ext>
            </a:extLst>
          </p:cNvPr>
          <p:cNvSpPr>
            <a:spLocks noGrp="1"/>
          </p:cNvSpPr>
          <p:nvPr/>
        </p:nvSpPr>
        <p:spPr>
          <a:xfrm>
            <a:off x="7934325" y="1428750"/>
            <a:ext cx="3562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Session • Dequeue to Underflow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2809B8-9518-4D2C-AF02-008D9A0BFB44}"/>
              </a:ext>
            </a:extLst>
          </p:cNvPr>
          <p:cNvSpPr>
            <a:spLocks noGrp="1"/>
          </p:cNvSpPr>
          <p:nvPr/>
        </p:nvSpPr>
        <p:spPr>
          <a:xfrm>
            <a:off x="7934325" y="1733550"/>
            <a:ext cx="3562350" cy="391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10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dequeued.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4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Queue: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-&gt;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30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dequeued.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30</a:t>
            </a: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 dequeued.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2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Queue underflow: queue is empty.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Enter choice: </a:t>
            </a:r>
            <a:r>
              <a:rPr sz="150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5</a:t>
            </a:r>
          </a:p>
          <a:p>
            <a:pPr>
              <a:defRPr sz="150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Program terminated.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32A822-19C7-4B3F-A18D-E2CDD0352EC6}"/>
              </a:ext>
            </a:extLst>
          </p:cNvPr>
          <p:cNvSpPr>
            <a:spLocks noGrp="1"/>
          </p:cNvSpPr>
          <p:nvPr/>
        </p:nvSpPr>
        <p:spPr>
          <a:xfrm>
            <a:off x="523875" y="590550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1">
                <a:solidFill>
                  <a:srgbClr val="2E9D6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9D65"/>
                </a:solidFill>
                <a:latin typeface="Aptos"/>
                <a:ea typeface="Aptos"/>
                <a:cs typeface="Aptos"/>
              </a:rPr>
              <a:t>Compiled with: gcc -std=c11 -Wall -Wextra -pedantic</a:t>
            </a:r>
          </a:p>
        </p:txBody>
      </p:sp>
    </p:spTree>
    <p:extLst>
      <p:ext uri="{BB962C8B-B14F-4D97-AF65-F5344CB8AC3E}">
        <p14:creationId xmlns:p14="http://schemas.microsoft.com/office/powerpoint/2010/main" val="552260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D73323-F136-4317-A837-D315A3D8970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TIME AND SPACE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6B7D4D-A02E-46FD-AE8B-12DA1DF8DD1C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027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Front and Rear make three core operations constant time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F03EFCC-4866-488B-811A-7422EC389B26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4A641-E615-4767-9AD5-A6E6E5280AA9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D7D6F3-54FF-404D-880A-C311D45E3E1F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666750" y="1476375"/>
          <a:ext cx="10858500" cy="3190875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Operation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Time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Why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Enqueue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Rear directly identifies the final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Dequeue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O(1)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Front directly identifies the first node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Peek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Front data is accessed directly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Display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O(n)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Every node must be visited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D71760-AED9-484D-8359-A31C246EF955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9906000" cy="952500"/>
          </a:xfrm>
          <a:prstGeom prst="roundRect">
            <a:avLst>
              <a:gd name="adj" fmla="val 18000"/>
            </a:avLst>
          </a:prstGeom>
          <a:solidFill>
            <a:srgbClr val="EAF1FF"/>
          </a:solidFill>
          <a:ln w="14288">
            <a:solidFill>
              <a:srgbClr val="2F6F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D04ED-663F-47DD-B495-6437F6B36488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Space for n elements: O(n)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F47591-269C-40FD-AF88-DB1C5867149C}"/>
              </a:ext>
            </a:extLst>
          </p:cNvPr>
          <p:cNvSpPr>
            <a:spLocks noGrp="1"/>
          </p:cNvSpPr>
          <p:nvPr/>
        </p:nvSpPr>
        <p:spPr>
          <a:xfrm>
            <a:off x="5000625" y="5200650"/>
            <a:ext cx="561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Each node stores one value plus one Next pointer; Front, Rear and temporary pointers add O(1).</a:t>
            </a:r>
          </a:p>
        </p:txBody>
      </p:sp>
    </p:spTree>
    <p:extLst>
      <p:ext uri="{BB962C8B-B14F-4D97-AF65-F5344CB8AC3E}">
        <p14:creationId xmlns:p14="http://schemas.microsoft.com/office/powerpoint/2010/main" val="923751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77225C-D5EC-4C06-9343-197E19972B03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ARRAY QUEUE VS LINKED-LIST 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CCEE6-B3B0-4C0B-BB8C-E95A8F353646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Arrays and linked lists optimise different constraints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731BC3E-AFF4-40E7-B8A5-EF9B2A72E198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B7BAD-A040-4AF1-95F0-463576CDE457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A81283-E87F-47C5-8B9A-F9AB9821FE5F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523875" y="1304925"/>
          <a:ext cx="11144250" cy="4476753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Aspect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Array queue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Linked-list queue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One contiguous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One node per insertion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Capacity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Usually fixed or explicitly resized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Grows until allocation fails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Overflow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Capacity reached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malloc() returns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Overhead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No pointer in each element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One Next pointer per node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Enqueue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O(1) in circular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O(1) with Rear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Dequeue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O(1) in circular queue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O(1) with Front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Index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Pointer + allocation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Cache locality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Usually better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0">
                          <a:solidFill>
                            <a:srgbClr val="102A43"/>
                          </a:solidFill>
                          <a:latin typeface="Aptos"/>
                          <a:ea typeface="Aptos"/>
                          <a:cs typeface="Aptos"/>
                        </a:rPr>
                        <a:t>Usually weaker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EC66047-5646-4D3C-8856-D4A324ECB190}"/>
              </a:ext>
            </a:extLst>
          </p:cNvPr>
          <p:cNvSpPr>
            <a:spLocks noGrp="1"/>
          </p:cNvSpPr>
          <p:nvPr/>
        </p:nvSpPr>
        <p:spPr>
          <a:xfrm>
            <a:off x="1095375" y="594360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470"/>
          </a:bodyPr>
          <a:lstStyle/>
          <a:p>
            <a:pPr algn="ctr">
              <a:defRPr sz="1650" b="1">
                <a:solidFill>
                  <a:srgbClr val="2B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Neither is universally better — choose according to capacity needs, memory overhead and access patterns.</a:t>
            </a:r>
          </a:p>
        </p:txBody>
      </p:sp>
    </p:spTree>
    <p:extLst>
      <p:ext uri="{BB962C8B-B14F-4D97-AF65-F5344CB8AC3E}">
        <p14:creationId xmlns:p14="http://schemas.microsoft.com/office/powerpoint/2010/main" val="405800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2EDD429-DFB4-4776-8EE6-723A648A33BF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REAL-WORLD APPLICATIONS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A6B8BB-30EA-4482-AB39-29D385BDA336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Queues organise work in the order it arrives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496075C-C480-4AD2-AA8E-3C5C5D1FB6B3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D4084D-793B-43A0-B9BD-88450E75339D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F7125-AC8C-412B-AEA1-46C5FA189C35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3B9E84-20AC-42FD-8CD1-6E7F99E4D69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514350" cy="51435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423E6-356C-41F9-A62D-E99CB85C88E5}"/>
              </a:ext>
            </a:extLst>
          </p:cNvPr>
          <p:cNvSpPr>
            <a:spLocks noGrp="1"/>
          </p:cNvSpPr>
          <p:nvPr/>
        </p:nvSpPr>
        <p:spPr>
          <a:xfrm>
            <a:off x="1371600" y="13620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CPU scheduling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BCDD46-0439-4D2D-A436-BCB0CDF0CBB2}"/>
              </a:ext>
            </a:extLst>
          </p:cNvPr>
          <p:cNvSpPr>
            <a:spLocks noGrp="1"/>
          </p:cNvSpPr>
          <p:nvPr/>
        </p:nvSpPr>
        <p:spPr>
          <a:xfrm>
            <a:off x="1371600" y="16954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ready processes wait for processor time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BA6C23-BBCD-4ED9-ADDF-3EA5AC08A6CB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514350" cy="514350"/>
          </a:xfrm>
          <a:prstGeom prst="ellipse">
            <a:avLst/>
          </a:prstGeom>
          <a:solidFill>
            <a:srgbClr val="2B7A78"/>
          </a:solidFill>
          <a:ln w="9525">
            <a:solidFill>
              <a:srgbClr val="2B7A78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720E30-C6E1-4B64-80BE-3729FBCA99D7}"/>
              </a:ext>
            </a:extLst>
          </p:cNvPr>
          <p:cNvSpPr>
            <a:spLocks noGrp="1"/>
          </p:cNvSpPr>
          <p:nvPr/>
        </p:nvSpPr>
        <p:spPr>
          <a:xfrm>
            <a:off x="1371600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Printer management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A02E57-DBCA-40EA-9545-AE871BF6EB85}"/>
              </a:ext>
            </a:extLst>
          </p:cNvPr>
          <p:cNvSpPr>
            <a:spLocks noGrp="1"/>
          </p:cNvSpPr>
          <p:nvPr/>
        </p:nvSpPr>
        <p:spPr>
          <a:xfrm>
            <a:off x="1371600" y="27622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print jobs are served in submission order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D35255-806F-4E20-91F3-8B6F8278F046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514350" cy="51435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A6C768-4431-4E7E-B599-EA984CFB0BBA}"/>
              </a:ext>
            </a:extLst>
          </p:cNvPr>
          <p:cNvSpPr>
            <a:spLocks noGrp="1"/>
          </p:cNvSpPr>
          <p:nvPr/>
        </p:nvSpPr>
        <p:spPr>
          <a:xfrm>
            <a:off x="1371600" y="34956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Network buffering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531DEC-56B6-4DF9-9AF0-833E1CBABE87}"/>
              </a:ext>
            </a:extLst>
          </p:cNvPr>
          <p:cNvSpPr>
            <a:spLocks noGrp="1"/>
          </p:cNvSpPr>
          <p:nvPr/>
        </p:nvSpPr>
        <p:spPr>
          <a:xfrm>
            <a:off x="1371600" y="38290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packets wait before transmission or processing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201604F-2640-44D5-A2A8-0E42948E4755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514350" cy="514350"/>
          </a:xfrm>
          <a:prstGeom prst="ellipse">
            <a:avLst/>
          </a:prstGeom>
          <a:solidFill>
            <a:srgbClr val="2B7A78"/>
          </a:solidFill>
          <a:ln w="9525">
            <a:solidFill>
              <a:srgbClr val="2B7A78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1FA0D2-34FA-495C-9BF8-A85764C86537}"/>
              </a:ext>
            </a:extLst>
          </p:cNvPr>
          <p:cNvSpPr>
            <a:spLocks noGrp="1"/>
          </p:cNvSpPr>
          <p:nvPr/>
        </p:nvSpPr>
        <p:spPr>
          <a:xfrm>
            <a:off x="1371600" y="45624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Customer 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AC4740-A302-477F-9E2F-20362FE1277B}"/>
              </a:ext>
            </a:extLst>
          </p:cNvPr>
          <p:cNvSpPr>
            <a:spLocks noGrp="1"/>
          </p:cNvSpPr>
          <p:nvPr/>
        </p:nvSpPr>
        <p:spPr>
          <a:xfrm>
            <a:off x="1371600" y="48958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requests are handled fairly by arrival time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B2DAF3-8877-4F06-A753-473B69B8D7E1}"/>
              </a:ext>
            </a:extLst>
          </p:cNvPr>
          <p:cNvSpPr>
            <a:spLocks noGrp="1"/>
          </p:cNvSpPr>
          <p:nvPr/>
        </p:nvSpPr>
        <p:spPr>
          <a:xfrm>
            <a:off x="6334125" y="1381125"/>
            <a:ext cx="514350" cy="51435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D71067-3FD7-45F1-B8C8-D19753858CA4}"/>
              </a:ext>
            </a:extLst>
          </p:cNvPr>
          <p:cNvSpPr>
            <a:spLocks noGrp="1"/>
          </p:cNvSpPr>
          <p:nvPr/>
        </p:nvSpPr>
        <p:spPr>
          <a:xfrm>
            <a:off x="7019925" y="13620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Breadth-first search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F8291E-600D-42B8-AB94-166111B67E00}"/>
              </a:ext>
            </a:extLst>
          </p:cNvPr>
          <p:cNvSpPr>
            <a:spLocks noGrp="1"/>
          </p:cNvSpPr>
          <p:nvPr/>
        </p:nvSpPr>
        <p:spPr>
          <a:xfrm>
            <a:off x="7019925" y="16954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vertices are explored level by level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2E1D959-A370-430A-AC08-FC796B035E4F}"/>
              </a:ext>
            </a:extLst>
          </p:cNvPr>
          <p:cNvSpPr>
            <a:spLocks noGrp="1"/>
          </p:cNvSpPr>
          <p:nvPr/>
        </p:nvSpPr>
        <p:spPr>
          <a:xfrm>
            <a:off x="6334125" y="2447925"/>
            <a:ext cx="514350" cy="514350"/>
          </a:xfrm>
          <a:prstGeom prst="ellipse">
            <a:avLst/>
          </a:prstGeom>
          <a:solidFill>
            <a:srgbClr val="2B7A78"/>
          </a:solidFill>
          <a:ln w="9525">
            <a:solidFill>
              <a:srgbClr val="2B7A78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5AF20D-23DA-469B-9937-45CD6C340463}"/>
              </a:ext>
            </a:extLst>
          </p:cNvPr>
          <p:cNvSpPr>
            <a:spLocks noGrp="1"/>
          </p:cNvSpPr>
          <p:nvPr/>
        </p:nvSpPr>
        <p:spPr>
          <a:xfrm>
            <a:off x="7019925" y="24288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Server requests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914252-5891-4A1C-91A3-A6A4739AA12C}"/>
              </a:ext>
            </a:extLst>
          </p:cNvPr>
          <p:cNvSpPr>
            <a:spLocks noGrp="1"/>
          </p:cNvSpPr>
          <p:nvPr/>
        </p:nvSpPr>
        <p:spPr>
          <a:xfrm>
            <a:off x="7019925" y="27622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incoming work waits for an available worker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8A5FCE-F674-4D87-8B76-EAD30F393EDC}"/>
              </a:ext>
            </a:extLst>
          </p:cNvPr>
          <p:cNvSpPr>
            <a:spLocks noGrp="1"/>
          </p:cNvSpPr>
          <p:nvPr/>
        </p:nvSpPr>
        <p:spPr>
          <a:xfrm>
            <a:off x="6334125" y="3514725"/>
            <a:ext cx="514350" cy="514350"/>
          </a:xfrm>
          <a:prstGeom prst="ellipse">
            <a:avLst/>
          </a:prstGeom>
          <a:solidFill>
            <a:srgbClr val="2F6FED"/>
          </a:solidFill>
          <a:ln w="9525">
            <a:solidFill>
              <a:srgbClr val="2F6FED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B3E3F6-5E2B-4874-B3FA-ACB5C3A0B9ED}"/>
              </a:ext>
            </a:extLst>
          </p:cNvPr>
          <p:cNvSpPr>
            <a:spLocks noGrp="1"/>
          </p:cNvSpPr>
          <p:nvPr/>
        </p:nvSpPr>
        <p:spPr>
          <a:xfrm>
            <a:off x="7019925" y="349567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Real-time streams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A70855-413A-4C39-B400-DC596FDBD688}"/>
              </a:ext>
            </a:extLst>
          </p:cNvPr>
          <p:cNvSpPr>
            <a:spLocks noGrp="1"/>
          </p:cNvSpPr>
          <p:nvPr/>
        </p:nvSpPr>
        <p:spPr>
          <a:xfrm>
            <a:off x="7019925" y="382905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63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463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events are buffered before processing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346A7DD-F0FD-47D8-BFBC-B3D4B089C392}"/>
              </a:ext>
            </a:extLst>
          </p:cNvPr>
          <p:cNvSpPr>
            <a:spLocks noGrp="1"/>
          </p:cNvSpPr>
          <p:nvPr/>
        </p:nvSpPr>
        <p:spPr>
          <a:xfrm>
            <a:off x="6315075" y="4686300"/>
            <a:ext cx="4857750" cy="1000125"/>
          </a:xfrm>
          <a:prstGeom prst="roundRect">
            <a:avLst>
              <a:gd name="adj" fmla="val 17143"/>
            </a:avLst>
          </a:prstGeom>
          <a:solidFill>
            <a:srgbClr val="FFF8D8"/>
          </a:solidFill>
          <a:ln w="14288">
            <a:solidFill>
              <a:srgbClr val="F6C9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A9F941-46BD-4638-9B43-49ECE7F20899}"/>
              </a:ext>
            </a:extLst>
          </p:cNvPr>
          <p:cNvSpPr>
            <a:spLocks noGrp="1"/>
          </p:cNvSpPr>
          <p:nvPr/>
        </p:nvSpPr>
        <p:spPr>
          <a:xfrm>
            <a:off x="6572250" y="487680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Shared idea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D35CC8-4C84-4631-AFB3-395B0FB4261D}"/>
              </a:ext>
            </a:extLst>
          </p:cNvPr>
          <p:cNvSpPr>
            <a:spLocks noGrp="1"/>
          </p:cNvSpPr>
          <p:nvPr/>
        </p:nvSpPr>
        <p:spPr>
          <a:xfrm>
            <a:off x="7858125" y="4879416"/>
            <a:ext cx="3000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697" lnSpcReduction="1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Preserve arrival order while work waits.</a:t>
            </a:r>
          </a:p>
        </p:txBody>
      </p:sp>
    </p:spTree>
    <p:extLst>
      <p:ext uri="{BB962C8B-B14F-4D97-AF65-F5344CB8AC3E}">
        <p14:creationId xmlns:p14="http://schemas.microsoft.com/office/powerpoint/2010/main" val="1901918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FF35F8B-9F15-4B8A-A459-8EF987A4F64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485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VIVA QUESTIONS • 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4FD65C-C4DA-4970-BF01-C41002005EEE}"/>
              </a:ext>
            </a:extLst>
          </p:cNvPr>
          <p:cNvSpPr>
            <a:spLocks noGrp="1"/>
          </p:cNvSpPr>
          <p:nvPr/>
        </p:nvSpPr>
        <p:spPr>
          <a:xfrm>
            <a:off x="533400" y="466725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745"/>
          </a:bodyPr>
          <a:lstStyle/>
          <a:p>
            <a:pPr algn="l">
              <a:defRPr sz="35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Can you defend every pointer update?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5683093-4446-4AF6-9492-4557915108EC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11125200" cy="0"/>
          </a:xfrm>
          <a:prstGeom prst="line">
            <a:avLst/>
          </a:prstGeom>
          <a:noFill/>
          <a:ln w="14288">
            <a:solidFill>
              <a:srgbClr val="C8D4E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68137-2F21-44D4-A64A-76E4521F15EE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38" b="0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187"/>
                </a:solidFill>
                <a:latin typeface="Aptos"/>
                <a:ea typeface="Aptos"/>
                <a:cs typeface="Aptos"/>
              </a:rPr>
              <a:t>Queue Implementation Using Linked List in 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F063C-B854-4897-AD79-5260D408F4C3}"/>
              </a:ext>
            </a:extLst>
          </p:cNvPr>
          <p:cNvSpPr>
            <a:spLocks noGrp="1"/>
          </p:cNvSpPr>
          <p:nvPr/>
        </p:nvSpPr>
        <p:spPr>
          <a:xfrm>
            <a:off x="10991850" y="64579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5F71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7187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5FD0D8-E02D-4FDC-BBE6-E1EFB21E93C2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7191375" cy="4667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C8D4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DBF1AE-AB1A-431C-A7E5-EBAA28449180}"/>
              </a:ext>
            </a:extLst>
          </p:cNvPr>
          <p:cNvSpPr>
            <a:spLocks noGrp="1"/>
          </p:cNvSpPr>
          <p:nvPr/>
        </p:nvSpPr>
        <p:spPr>
          <a:xfrm>
            <a:off x="895350" y="1628775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Important viva questions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5ED11F-CB1B-4156-9F0F-C9F63E2A01BB}"/>
              </a:ext>
            </a:extLst>
          </p:cNvPr>
          <p:cNvSpPr>
            <a:spLocks noGrp="1"/>
          </p:cNvSpPr>
          <p:nvPr/>
        </p:nvSpPr>
        <p:spPr>
          <a:xfrm>
            <a:off x="933450" y="2190750"/>
            <a:ext cx="64770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19050" rIns="57150" bIns="19050" anchor="t">
            <a:normAutofit lnSpcReduction="10000"/>
          </a:bodyPr>
          <a:lstStyle/>
          <a:p>
            <a:pPr algn="l">
              <a:lnSpc>
                <a:spcPct val="20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Why are two pointers required?</a:t>
            </a:r>
          </a:p>
          <a:p>
            <a:pPr algn="l">
              <a:lnSpc>
                <a:spcPct val="20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Why is insertion not performed at Front?</a:t>
            </a:r>
          </a:p>
          <a:p>
            <a:pPr algn="l">
              <a:lnSpc>
                <a:spcPct val="20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Why must Rear become NULL after the final deletion?</a:t>
            </a:r>
          </a:p>
          <a:p>
            <a:pPr algn="l">
              <a:lnSpc>
                <a:spcPct val="20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Can a linked-list queue overflow?</a:t>
            </a:r>
          </a:p>
          <a:p>
            <a:pPr algn="l">
              <a:lnSpc>
                <a:spcPct val="20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Why is Enqueue O(1)?</a:t>
            </a:r>
          </a:p>
          <a:p>
            <a:pPr algn="l">
              <a:lnSpc>
                <a:spcPct val="20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What happens if free() is not called?</a:t>
            </a:r>
          </a:p>
          <a:p>
            <a:pPr algn="l">
              <a:lnSpc>
                <a:spcPct val="200000"/>
              </a:lnSpc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•  How do underflow and allocation failure differ?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0A6072-0165-446B-AE02-82768464576C}"/>
              </a:ext>
            </a:extLst>
          </p:cNvPr>
          <p:cNvSpPr>
            <a:spLocks noGrp="1"/>
          </p:cNvSpPr>
          <p:nvPr/>
        </p:nvSpPr>
        <p:spPr>
          <a:xfrm>
            <a:off x="8096250" y="1333500"/>
            <a:ext cx="3476625" cy="4667250"/>
          </a:xfrm>
          <a:prstGeom prst="roundRect">
            <a:avLst>
              <a:gd name="adj" fmla="val 6027"/>
            </a:avLst>
          </a:prstGeom>
          <a:solidFill>
            <a:srgbClr val="102A43"/>
          </a:solidFill>
          <a:ln w="14288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E73101-AFB9-4EBF-AE40-A8075FF3B233}"/>
              </a:ext>
            </a:extLst>
          </p:cNvPr>
          <p:cNvSpPr>
            <a:spLocks noGrp="1"/>
          </p:cNvSpPr>
          <p:nvPr/>
        </p:nvSpPr>
        <p:spPr>
          <a:xfrm>
            <a:off x="8477250" y="2143125"/>
            <a:ext cx="2714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118"/>
          </a:bodyPr>
          <a:lstStyle/>
          <a:p>
            <a:pPr algn="ctr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</a:t>
            </a:r>
          </a:p>
          <a:p>
            <a:pPr algn="ctr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3D7BFF-0D75-4A09-A725-CC25D5EAA2D7}"/>
              </a:ext>
            </a:extLst>
          </p:cNvPr>
          <p:cNvSpPr>
            <a:spLocks noGrp="1"/>
          </p:cNvSpPr>
          <p:nvPr/>
        </p:nvSpPr>
        <p:spPr>
          <a:xfrm>
            <a:off x="8763000" y="4000500"/>
            <a:ext cx="2143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2325" b="1">
                <a:solidFill>
                  <a:srgbClr val="F6C94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6C945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03D6AF-C9E7-42A0-AB2F-DE0E5E6713F6}"/>
              </a:ext>
            </a:extLst>
          </p:cNvPr>
          <p:cNvSpPr>
            <a:spLocks noGrp="1"/>
          </p:cNvSpPr>
          <p:nvPr/>
        </p:nvSpPr>
        <p:spPr>
          <a:xfrm>
            <a:off x="8458200" y="49530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0">
                <a:solidFill>
                  <a:srgbClr val="EAF1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1FF"/>
                </a:solidFill>
                <a:latin typeface="Aptos"/>
                <a:ea typeface="Aptos"/>
                <a:cs typeface="Aptos"/>
              </a:rPr>
              <a:t>Trace it. Explain it. Code it.</a:t>
            </a:r>
          </a:p>
        </p:txBody>
      </p:sp>
    </p:spTree>
    <p:extLst>
      <p:ext uri="{BB962C8B-B14F-4D97-AF65-F5344CB8AC3E}">
        <p14:creationId xmlns:p14="http://schemas.microsoft.com/office/powerpoint/2010/main" val="12157509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5318</Words>
  <Application>Microsoft Office PowerPoint</Application>
  <DocSecurity>0</DocSecurity>
  <PresentationFormat>Widescreen</PresentationFormat>
  <Paragraphs>836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Athisaya U</dc:creator>
  <cp:lastModifiedBy>Athisaya U</cp:lastModifiedBy>
  <cp:revision>1</cp:revision>
  <dcterms:created xsi:type="dcterms:W3CDTF">2026-08-04T18:42:17Z</dcterms:created>
  <dcterms:modified xsi:type="dcterms:W3CDTF">2026-08-04T18:59:40Z</dcterms:modified>
</cp:coreProperties>
</file>